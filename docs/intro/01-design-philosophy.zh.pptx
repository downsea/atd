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0584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FBBF24"/>
                </a:solidFill>
                <a:latin typeface="Noto Sans CJK SC"/>
              </a:rPr>
              <a:t>ATD · Agent Tool Dispatch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10058400" cy="1463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Noto Sans CJK SC"/>
              </a:rPr>
              <a:t>ATD 设计哲学 ── 7 条原则 + 反模式 + Adopter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749039"/>
            <a:ext cx="10058400" cy="18288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0" i="0">
                <a:solidFill>
                  <a:srgbClr val="CBD5E1"/>
                </a:solidFill>
                <a:latin typeface="Noto Sans CJK SC"/>
              </a:rPr>
              <a:t>Wire frame 是给 LLM 看的,audit sink 是给人看的,
handshake 是给桥接用的。每个设计决策要同时通过三个读者检验。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6035040"/>
            <a:ext cx="100584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CBD5E1"/>
                </a:solidFill>
                <a:latin typeface="Noto Sans CJK SC"/>
              </a:rPr>
              <a:t>基于 docs/atd-design-philosophy.md · 2026-05-19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01 · ATD 设计哲学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2 /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ATD tool server 同时面对 3 个消费者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783080"/>
          <a:ext cx="11277294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9913"/>
                <a:gridCol w="4736463"/>
                <a:gridCol w="4510918"/>
              </a:tblGrid>
              <a:tr h="800100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Noto Sans CJK SC"/>
                        </a:rPr>
                        <a:t>消费者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Noto Sans CJK SC"/>
                        </a:rPr>
                        <a:t>需求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Noto Sans CJK SC"/>
                        </a:rPr>
                        <a:t>通道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Noto Sans CJK SC"/>
                        </a:rPr>
                        <a:t>LLM Agent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可发现的工具面 / 类型化错误 / 可预测的 arg shape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tool_list · tool_schema · run_tool over wire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Noto Sans CJK SC"/>
                        </a:rPr>
                        <a:t>人类运维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审计轨迹 / 运维控制 / 结构化日志 / capability 拒绝可见性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AuditSink 事件 · server log · metrics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Noto Sans CJK SC"/>
                        </a:rPr>
                        <a:t>Agent 平台桥接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稳定握手 / capability 协商 / 不出意外的传输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Hello/HelloAck + UCAN-lite · length-prefixed JSON over UDS/HTTP/stdio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5212080"/>
            <a:ext cx="11277295" cy="1280160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5349240"/>
            <a:ext cx="10911535" cy="10515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1">
                <a:solidFill>
                  <a:srgbClr val="1F3A5F"/>
                </a:solidFill>
                <a:latin typeface="Noto Sans CJK SC"/>
              </a:rPr>
              <a:t>Wire frame = LLM。Audit sink = 人。Handshake = 桥接。
三条管子,同一个 server,没有 flag、没有 mode。
让 LLM 爽但让桥接握手崩 = bug,不是 trade-off。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01 · ATD 设计哲学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3 /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7 条原则 —— 一页总览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91640"/>
          <a:ext cx="11277293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"/>
                <a:gridCol w="3383188"/>
                <a:gridCol w="7330241"/>
              </a:tblGrid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Noto Sans CJK SC"/>
                        </a:rPr>
                        <a:t>#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Noto Sans CJK SC"/>
                        </a:rPr>
                        <a:t>原则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Noto Sans CJK SC"/>
                        </a:rPr>
                        <a:t>一句话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Noto Sans CJK SC"/>
                        </a:rPr>
                        <a:t>1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ToolDefinition 是唯一真实源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从一份 ToolDefinition 生成 summaries / 校验 / skills / adapter / 文档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Noto Sans CJK SC"/>
                        </a:rPr>
                        <a:t>2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Skill 跟着工具走,不跟着桥接走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暴露 skills.list / skills.get;atd skills sync 按平台安装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Noto Sans CJK SC"/>
                        </a:rPr>
                        <a:t>3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Capability 协商而非硬编码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声明 required;求交集 granted;dispatch 层 gate;handler 不查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Noto Sans CJK SC"/>
                        </a:rPr>
                        <a:t>4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Error 类型化、namespace 化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协议 1000-1099; adopter 2000+;无自由文本主信号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Noto Sans CJK SC"/>
                        </a:rPr>
                        <a:t>5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工具默认跨连接无状态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ConnectionContext per-conn; 共享世界 opt-in 且显式声明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Noto Sans CJK SC"/>
                        </a:rPr>
                        <a:t>6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Discovery canonical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agent 运行时 discover; 不在 prompt 硬编码 tool id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Noto Sans CJK SC"/>
                        </a:rPr>
                        <a:t>7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Dispatch bounded + observable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tier deadline; 中间件; 不静默重试; 失败可观测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01 · ATD 设计哲学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4 /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原则 1 — ToolDefinition 是唯一真实源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645920"/>
            <a:ext cx="5410047" cy="484632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324447" y="1645920"/>
            <a:ext cx="5410047" cy="484632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044287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F3A5F"/>
                </a:solidFill>
                <a:latin typeface="Noto Sans CJK SC"/>
              </a:rPr>
              <a:t>✅ 对的做法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7327" y="1783080"/>
            <a:ext cx="5044287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F3A5F"/>
                </a:solidFill>
                <a:latin typeface="Noto Sans CJK SC"/>
              </a:rPr>
              <a:t>❌ 反模式 — args 描述手维护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331720"/>
            <a:ext cx="5044287" cy="397764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Noto Sans Mono CJK SC"/>
              </a:rPr>
              <a:t>@server.register(</a:t>
            </a:r>
          </a:p>
          <a:p>
            <a:pPr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Noto Sans Mono CJK SC"/>
              </a:rPr>
              <a:t>  definition=ToolDefinition(</a:t>
            </a:r>
          </a:p>
          <a:p>
            <a:pPr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Noto Sans Mono CJK SC"/>
              </a:rPr>
              <a:t>    input_schema={</a:t>
            </a:r>
          </a:p>
          <a:p>
            <a:pPr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Noto Sans Mono CJK SC"/>
              </a:rPr>
              <a:t>      "type": "object",</a:t>
            </a:r>
          </a:p>
          <a:p>
            <a:pPr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Noto Sans Mono CJK SC"/>
              </a:rPr>
              <a:t>      "properties": {</a:t>
            </a:r>
          </a:p>
          <a:p>
            <a:pPr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Noto Sans Mono CJK SC"/>
              </a:rPr>
              <a:t>        "path": {"type": "string"}</a:t>
            </a:r>
          </a:p>
          <a:p>
            <a:pPr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Noto Sans Mono CJK SC"/>
              </a:rPr>
              <a:t>      },</a:t>
            </a:r>
          </a:p>
          <a:p>
            <a:pPr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Noto Sans Mono CJK SC"/>
              </a:rPr>
              <a:t>      "required": ["path"]</a:t>
            </a:r>
          </a:p>
          <a:p>
            <a:pPr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Noto Sans Mono CJK SC"/>
              </a:rPr>
              <a:t>    },</a:t>
            </a:r>
          </a:p>
          <a:p>
            <a:pPr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Noto Sans Mono CJK SC"/>
              </a:rPr>
              <a:t>    description="Read a file.",</a:t>
            </a:r>
          </a:p>
          <a:p>
            <a:pPr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Noto Sans Mono CJK SC"/>
              </a:rPr>
              <a:t>  ))</a:t>
            </a:r>
          </a:p>
          <a:p>
            <a:pPr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Noto Sans Mono CJK SC"/>
              </a:rPr>
              <a:t># Summary / SKILL.md / OpenAI shape</a:t>
            </a:r>
          </a:p>
          <a:p>
            <a:pPr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Noto Sans Mono CJK SC"/>
              </a:rPr>
              <a:t># 全部从这份生成,无第二拷贝</a:t>
            </a:r>
          </a:p>
          <a:p>
            <a:pPr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Noto Sans Mono CJK SC"/>
              </a:rPr>
              <a:t>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07327" y="2331720"/>
            <a:ext cx="5044287" cy="397764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Noto Sans Mono CJK SC"/>
              </a:rPr>
              <a:t>@server.register(</a:t>
            </a:r>
          </a:p>
          <a:p>
            <a:pPr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Noto Sans Mono CJK SC"/>
              </a:rPr>
              <a:t>  definition=ToolDefinition(</a:t>
            </a:r>
          </a:p>
          <a:p>
            <a:pPr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Noto Sans Mono CJK SC"/>
              </a:rPr>
              <a:t>    input_schema={...},</a:t>
            </a:r>
          </a:p>
          <a:p>
            <a:pPr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Noto Sans Mono CJK SC"/>
              </a:rPr>
              <a:t>    description=(</a:t>
            </a:r>
          </a:p>
          <a:p>
            <a:pPr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Noto Sans Mono CJK SC"/>
              </a:rPr>
              <a:t>      "Read file from `path` "</a:t>
            </a:r>
          </a:p>
          <a:p>
            <a:pPr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Noto Sans Mono CJK SC"/>
              </a:rPr>
              <a:t>      "(required) and return "</a:t>
            </a:r>
          </a:p>
          <a:p>
            <a:pPr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Noto Sans Mono CJK SC"/>
              </a:rPr>
              <a:t>      "its contents."  # ← 会烂</a:t>
            </a:r>
          </a:p>
          <a:p>
            <a:pPr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Noto Sans Mono CJK SC"/>
              </a:rPr>
              <a:t>    ),</a:t>
            </a:r>
          </a:p>
          <a:p>
            <a:pPr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Noto Sans Mono CJK SC"/>
              </a:rPr>
              <a:t>  ))</a:t>
            </a:r>
          </a:p>
          <a:p>
            <a:pPr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Noto Sans Mono CJK SC"/>
              </a:rPr>
              <a:t># 新增 optional encoding 时</a:t>
            </a:r>
          </a:p>
          <a:p>
            <a:pPr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Noto Sans Mono CJK SC"/>
              </a:rPr>
              <a:t># 只有 schema 更新,</a:t>
            </a:r>
          </a:p>
          <a:p>
            <a:pPr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Noto Sans Mono CJK SC"/>
              </a:rPr>
              <a:t># description 还说 "from path"</a:t>
            </a:r>
          </a:p>
          <a:p>
            <a:pPr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Noto Sans Mono CJK SC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01 · ATD 设计哲学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5 /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原则 2 — Skill 跟着工具走,不跟着桥接走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691640"/>
            <a:ext cx="11277295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6B7280"/>
                </a:solidFill>
                <a:latin typeface="Noto Sans CJK SC"/>
              </a:rPr>
              <a:t>SKILL.md 是工具的一部分,不是 agent 平台的一部分。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77440"/>
            <a:ext cx="11277295" cy="219456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>
              <a:lnSpc>
                <a:spcPct val="120000"/>
              </a:lnSpc>
            </a:pPr>
            <a:r>
              <a:rPr sz="1300" b="0" i="0">
                <a:solidFill>
                  <a:srgbClr val="E5E7EB"/>
                </a:solidFill>
                <a:latin typeface="Noto Sans Mono CJK SC"/>
              </a:rPr>
              <a:t>@server.register(definition=ToolDefinition(</a:t>
            </a:r>
          </a:p>
          <a:p>
            <a:pPr>
              <a:lnSpc>
                <a:spcPct val="120000"/>
              </a:lnSpc>
            </a:pPr>
            <a:r>
              <a:rPr sz="1300" b="0" i="0">
                <a:solidFill>
                  <a:srgbClr val="E5E7EB"/>
                </a:solidFill>
                <a:latin typeface="Noto Sans Mono CJK SC"/>
              </a:rPr>
              <a:t>    id="cbrain:sim.skills.list",</a:t>
            </a:r>
          </a:p>
          <a:p>
            <a:pPr>
              <a:lnSpc>
                <a:spcPct val="120000"/>
              </a:lnSpc>
            </a:pPr>
            <a:r>
              <a:rPr sz="1300" b="0" i="0">
                <a:solidFill>
                  <a:srgbClr val="E5E7EB"/>
                </a:solidFill>
                <a:latin typeface="Noto Sans Mono CJK SC"/>
              </a:rPr>
              <a:t>    visibility=ToolVisibility.READ,</a:t>
            </a:r>
          </a:p>
          <a:p>
            <a:pPr>
              <a:lnSpc>
                <a:spcPct val="120000"/>
              </a:lnSpc>
            </a:pPr>
            <a:r>
              <a:rPr sz="1300" b="0" i="0">
                <a:solidFill>
                  <a:srgbClr val="E5E7EB"/>
                </a:solidFill>
                <a:latin typeface="Noto Sans Mono CJK SC"/>
              </a:rPr>
              <a:t>    required_capabilities=[],   # 公开 meta-tool</a:t>
            </a:r>
          </a:p>
          <a:p>
            <a:pPr>
              <a:lnSpc>
                <a:spcPct val="120000"/>
              </a:lnSpc>
            </a:pPr>
            <a:r>
              <a:rPr sz="1300" b="0" i="0">
                <a:solidFill>
                  <a:srgbClr val="E5E7EB"/>
                </a:solidFill>
                <a:latin typeface="Noto Sans Mono CJK SC"/>
              </a:rPr>
              <a:t>))</a:t>
            </a:r>
          </a:p>
          <a:p>
            <a:pPr>
              <a:lnSpc>
                <a:spcPct val="120000"/>
              </a:lnSpc>
            </a:pPr>
            <a:r>
              <a:rPr sz="1300" b="0" i="0">
                <a:solidFill>
                  <a:srgbClr val="E5E7EB"/>
                </a:solidFill>
                <a:latin typeface="Noto Sans Mono CJK SC"/>
              </a:rPr>
              <a:t>async def list_skills(args, ctx):</a:t>
            </a:r>
          </a:p>
          <a:p>
            <a:pPr>
              <a:lnSpc>
                <a:spcPct val="120000"/>
              </a:lnSpc>
            </a:pPr>
            <a:r>
              <a:rPr sz="1300" b="0" i="0">
                <a:solidFill>
                  <a:srgbClr val="E5E7EB"/>
                </a:solidFill>
                <a:latin typeface="Noto Sans Mono CJK SC"/>
              </a:rPr>
              <a:t>    return [{"name": p.parent.name,</a:t>
            </a:r>
          </a:p>
          <a:p>
            <a:pPr>
              <a:lnSpc>
                <a:spcPct val="120000"/>
              </a:lnSpc>
            </a:pPr>
            <a:r>
              <a:rPr sz="1300" b="0" i="0">
                <a:solidFill>
                  <a:srgbClr val="E5E7EB"/>
                </a:solidFill>
                <a:latin typeface="Noto Sans Mono CJK SC"/>
              </a:rPr>
              <a:t>             "description": _read_desc(p)}</a:t>
            </a:r>
          </a:p>
          <a:p>
            <a:pPr>
              <a:lnSpc>
                <a:spcPct val="120000"/>
              </a:lnSpc>
            </a:pPr>
            <a:r>
              <a:rPr sz="1300" b="0" i="0">
                <a:solidFill>
                  <a:srgbClr val="E5E7EB"/>
                </a:solidFill>
                <a:latin typeface="Noto Sans Mono CJK SC"/>
              </a:rPr>
              <a:t>            for p in sorted(SKILL_ROOT.glob("*/SKILL.md"))]</a:t>
            </a:r>
          </a:p>
          <a:p>
            <a:pPr>
              <a:lnSpc>
                <a:spcPct val="120000"/>
              </a:lnSpc>
            </a:pPr>
            <a:r>
              <a:rPr sz="1300" b="0" i="0">
                <a:solidFill>
                  <a:srgbClr val="E5E7EB"/>
                </a:solidFill>
                <a:latin typeface="Noto Sans Mono CJK SC"/>
              </a:rPr>
              <a:t> 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754880"/>
            <a:ext cx="11277295" cy="146304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>
              <a:lnSpc>
                <a:spcPct val="120000"/>
              </a:lnSpc>
            </a:pPr>
            <a:r>
              <a:rPr sz="1300" b="0" i="0">
                <a:solidFill>
                  <a:srgbClr val="E5E7EB"/>
                </a:solidFill>
                <a:latin typeface="Noto Sans Mono CJK SC"/>
              </a:rPr>
              <a:t># 安装到 agent 平台</a:t>
            </a:r>
          </a:p>
          <a:p>
            <a:pPr>
              <a:lnSpc>
                <a:spcPct val="120000"/>
              </a:lnSpc>
            </a:pPr>
            <a:r>
              <a:rPr sz="1300" b="0" i="0">
                <a:solidFill>
                  <a:srgbClr val="E5E7EB"/>
                </a:solidFill>
                <a:latin typeface="Noto Sans Mono CJK SC"/>
              </a:rPr>
              <a:t>atd skills sync --target hermes</a:t>
            </a:r>
          </a:p>
          <a:p>
            <a:pPr>
              <a:lnSpc>
                <a:spcPct val="120000"/>
              </a:lnSpc>
            </a:pPr>
            <a:r>
              <a:rPr sz="1300" b="0" i="0">
                <a:solidFill>
                  <a:srgbClr val="E5E7EB"/>
                </a:solidFill>
                <a:latin typeface="Noto Sans Mono CJK SC"/>
              </a:rPr>
              <a:t>atd skills sync --target claude-code</a:t>
            </a:r>
          </a:p>
          <a:p>
            <a:pPr>
              <a:lnSpc>
                <a:spcPct val="120000"/>
              </a:lnSpc>
            </a:pPr>
            <a:r>
              <a:rPr sz="1300" b="0" i="0">
                <a:solidFill>
                  <a:srgbClr val="E5E7EB"/>
                </a:solidFill>
                <a:latin typeface="Noto Sans Mono CJK SC"/>
              </a:rPr>
              <a:t># → ~/.hermes/skills/cbrain-sim-&lt;name&gt;/SKILL.md</a:t>
            </a:r>
          </a:p>
          <a:p>
            <a:pPr>
              <a:lnSpc>
                <a:spcPct val="120000"/>
              </a:lnSpc>
            </a:pPr>
            <a:r>
              <a:rPr sz="1300" b="0" i="0">
                <a:solidFill>
                  <a:srgbClr val="E5E7EB"/>
                </a:solidFill>
                <a:latin typeface="Noto Sans Mono CJK SC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01 · ATD 设计哲学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6 /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原则 3 — Capability 协商而非硬编码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691640"/>
            <a:ext cx="11277295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6B7280"/>
                </a:solidFill>
                <a:latin typeface="Noto Sans CJK SC"/>
              </a:rPr>
              <a:t>硬编码 capability 在 handler 内部 → 4 个问题: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11277295" cy="2743200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1A1A1A"/>
                </a:solidFill>
                <a:latin typeface="Noto Sans CJK SC"/>
              </a:rPr>
              <a:t>•  检查对 LLM 不可见 — tool_list 反映不出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1A1A1A"/>
                </a:solidFill>
                <a:latin typeface="Noto Sans CJK SC"/>
              </a:rPr>
              <a:t>•  不同 handler 漂移 (有的查 env, 有的查 header, 有的查 client_id)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1A1A1A"/>
                </a:solidFill>
                <a:latin typeface="Noto Sans CJK SC"/>
              </a:rPr>
              <a:t>•  Audit / observability 看到失败太晚 — handler 已经开始跑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1A1A1A"/>
                </a:solidFill>
                <a:latin typeface="Noto Sans CJK SC"/>
              </a:rPr>
              <a:t>•  未来想 pre-fetch capability 的桥接没东西可查 (如 UI 权限弹窗)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120640"/>
            <a:ext cx="11277295" cy="1280160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" y="5257800"/>
            <a:ext cx="10911535" cy="10515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1">
                <a:solidFill>
                  <a:srgbClr val="1F3A5F"/>
                </a:solidFill>
                <a:latin typeface="Noto Sans CJK SC"/>
              </a:rPr>
              <a:t>外化到 required_capabilities + dispatcher gate 解决全部四个:
LLM 在 tool_schema 看到要求 / 检查统一 / audit 在 handler 跑之前看到 / 桥接可预取 schema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01 · ATD 设计哲学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7 /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原则 4 — Error 类型化、namespace 化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91640"/>
          <a:ext cx="11277294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4367"/>
                <a:gridCol w="3608734"/>
                <a:gridCol w="5864193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SC"/>
                        </a:rPr>
                        <a:t>Code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SC"/>
                        </a:rPr>
                        <a:t>常量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SC"/>
                        </a:rPr>
                        <a:t>含义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Noto Sans CJK SC"/>
                        </a:rPr>
                        <a:t>1000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TOOL_NOT_FOUND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工具不存在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Noto Sans CJK SC"/>
                        </a:rPr>
                        <a:t>1001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CAPABILITY_DENIED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缺 required capability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Noto Sans CJK SC"/>
                        </a:rPr>
                        <a:t>1002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RATE_LIMITED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per-tool semaphore 拒 (retryable)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Noto Sans CJK SC"/>
                        </a:rPr>
                        <a:t>1003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BROKER_FAILED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TokenBroker 错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Noto Sans CJK SC"/>
                        </a:rPr>
                        <a:t>1004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DEADLINE_EXCEEDED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超 tier deadline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Noto Sans CJK SC"/>
                        </a:rPr>
                        <a:t>1005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INVALID_ARGS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args 不符 schema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Noto Sans CJK SC"/>
                        </a:rPr>
                        <a:t>1010-1013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UCAN_*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UCAN invalid / expired / too-deep / aud-mismatch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Noto Sans CJK SC"/>
                        </a:rPr>
                        <a:t>1020 / 1021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CURSOR_*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Cursor expired / invalid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Noto Sans CJK SC"/>
                        </a:rPr>
                        <a:t>1099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INTERNAL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未捕获 (需人介入)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5120640"/>
            <a:ext cx="11277295" cy="1280160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5257800"/>
            <a:ext cx="10911535" cy="10515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1F3A5F"/>
                </a:solidFill>
                <a:latin typeface="Noto Sans CJK SC"/>
              </a:rPr>
              <a:t>Adopter 占 2000+; cbrain 2000-2099 / healthkit 3000-3099 / celia 4000-4099
数字 code 跨翻译生存; 自由文本要 LLM 读散文,恢复不可靠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01 · ATD 设计哲学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8 /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原则 5 — 工具默认跨连接无状态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645920"/>
            <a:ext cx="5410047" cy="484632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324447" y="1645920"/>
            <a:ext cx="5410047" cy="484632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044287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F3A5F"/>
                </a:solidFill>
                <a:latin typeface="Noto Sans CJK SC"/>
              </a:rPr>
              <a:t>✅ Stateless (easy case)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7327" y="1783080"/>
            <a:ext cx="5044287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F3A5F"/>
                </a:solidFill>
                <a:latin typeface="Noto Sans CJK SC"/>
              </a:rPr>
              <a:t>✅ Shared world (declared)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331720"/>
            <a:ext cx="5044287" cy="397764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Noto Sans Mono CJK SC"/>
              </a:rPr>
              <a:t>@server.register(</a:t>
            </a:r>
          </a:p>
          <a:p>
            <a:pPr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Noto Sans Mono CJK SC"/>
              </a:rPr>
              <a:t>  definition=ToolDefinition(id="x:hash"))</a:t>
            </a:r>
          </a:p>
          <a:p>
            <a:pPr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Noto Sans Mono CJK SC"/>
              </a:rPr>
              <a:t>async def hash(args, ctx):</a:t>
            </a:r>
          </a:p>
          <a:p>
            <a:pPr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Noto Sans Mono CJK SC"/>
              </a:rPr>
              <a:t>  return {"sha256":</a:t>
            </a:r>
          </a:p>
          <a:p>
            <a:pPr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Noto Sans Mono CJK SC"/>
              </a:rPr>
              <a:t>    hashlib.sha256(</a:t>
            </a:r>
          </a:p>
          <a:p>
            <a:pPr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Noto Sans Mono CJK SC"/>
              </a:rPr>
              <a:t>      args["data"].encode()</a:t>
            </a:r>
          </a:p>
          <a:p>
            <a:pPr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Noto Sans Mono CJK SC"/>
              </a:rPr>
              <a:t>    ).hexdigest()}</a:t>
            </a:r>
          </a:p>
          <a:p>
            <a:pPr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Noto Sans Mono CJK SC"/>
              </a:rPr>
              <a:t>  # 不用 ctx, 不用模块状态</a:t>
            </a:r>
          </a:p>
          <a:p>
            <a:pPr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Noto Sans Mono CJK SC"/>
              </a:rPr>
              <a:t>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07327" y="2331720"/>
            <a:ext cx="5044287" cy="397764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Noto Sans Mono CJK SC"/>
              </a:rPr>
              <a:t>SIM = MuJoCoSimulator()  # singleton</a:t>
            </a:r>
          </a:p>
          <a:p>
            <a:pPr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Noto Sans Mono CJK SC"/>
              </a:rPr>
              <a:t> </a:t>
            </a:r>
          </a:p>
          <a:p>
            <a:pPr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Noto Sans Mono CJK SC"/>
              </a:rPr>
              <a:t>@server.register(definition=ToolDefinition(</a:t>
            </a:r>
          </a:p>
          <a:p>
            <a:pPr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Noto Sans Mono CJK SC"/>
              </a:rPr>
              <a:t>  id="cbrain:manipulation.pick",</a:t>
            </a:r>
          </a:p>
          <a:p>
            <a:pPr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Noto Sans Mono CJK SC"/>
              </a:rPr>
              <a:t>  description=(</a:t>
            </a:r>
          </a:p>
          <a:p>
            <a:pPr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Noto Sans Mono CJK SC"/>
              </a:rPr>
              <a:t>    "Pick. WARNING: mutates "</a:t>
            </a:r>
          </a:p>
          <a:p>
            <a:pPr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Noto Sans Mono CJK SC"/>
              </a:rPr>
              <a:t>    "shared simulator state "</a:t>
            </a:r>
          </a:p>
          <a:p>
            <a:pPr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Noto Sans Mono CJK SC"/>
              </a:rPr>
              <a:t>    "visible to ALL agents."  # ← 显式</a:t>
            </a:r>
          </a:p>
          <a:p>
            <a:pPr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Noto Sans Mono CJK SC"/>
              </a:rPr>
              <a:t>  )))</a:t>
            </a:r>
          </a:p>
          <a:p>
            <a:pPr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Noto Sans Mono CJK SC"/>
              </a:rPr>
              <a:t>async def pick(args, ctx):</a:t>
            </a:r>
          </a:p>
          <a:p>
            <a:pPr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Noto Sans Mono CJK SC"/>
              </a:rPr>
              <a:t>  await SIM.pick(args["target"])</a:t>
            </a:r>
          </a:p>
          <a:p>
            <a:pPr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Noto Sans Mono CJK SC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01 · ATD 设计哲学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9 /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原则 6 — Discovery canonical (不在 prompt 硬编码 tool id)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691640"/>
            <a:ext cx="11277295" cy="1828800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10911535" cy="1645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7F1D1D"/>
                </a:solidFill>
                <a:latin typeface="Noto Sans CJK SC"/>
              </a:rPr>
              <a:t>❌ System prompt:
"You may call cbrain:perception.snapshot, cbrain:manipulation.pick,
 cbrain:world.reset. Always start by calling perception.snapshot."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11277295" cy="2560320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1A1A1A"/>
                </a:solidFill>
                <a:latin typeface="Noto Sans CJK SC"/>
              </a:rPr>
              <a:t>•  cbrain-sim 加 cbrain:perception.depth_snapshot → prompt 不知道</a:t>
            </a:r>
          </a:p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1A1A1A"/>
                </a:solidFill>
                <a:latin typeface="Noto Sans CJK SC"/>
              </a:rPr>
              <a:t>•  manipulation.pick 改名 manipulation.grasp → 所有 agent 一起断</a:t>
            </a:r>
          </a:p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1A1A1A"/>
                </a:solidFill>
                <a:latin typeface="Noto Sans CJK SC"/>
              </a:rPr>
              <a:t>•  正确做法: agent session 启动时 discover() → 新工具自动出现, 改名不破坏</a:t>
            </a:r>
          </a:p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1A1A1A"/>
                </a:solidFill>
                <a:latin typeface="Noto Sans CJK SC"/>
              </a:rPr>
              <a:t>•  ToolSummary.id 是唯一稳定 handle, 其他都是人类面散文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01 · ATD 设计哲学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10 /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原则 7 — Dispatch bounded + observable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91640"/>
          <a:ext cx="11277295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4510918"/>
                <a:gridCol w="4510918"/>
              </a:tblGrid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Noto Sans CJK SC"/>
                        </a:rPr>
                        <a:t>contract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Noto Sans CJK SC"/>
                        </a:rPr>
                        <a:t>实现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Noto Sans CJK SC"/>
                        </a:rPr>
                        <a:t>失败模式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Noto Sans CJK SC"/>
                        </a:rPr>
                        <a:t>Bounded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definition.resources.timeout_ms (默认 30s)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超时 → 1004 DEADLINE_EXCEEDED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Noto Sans CJK SC"/>
                        </a:rPr>
                        <a:t>Observable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middleware (pre/post/on_error)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audit / tracing / metrics 均可挂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Noto Sans CJK SC"/>
                        </a:rPr>
                        <a:t>No silent retries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server 不内部重试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transient → 返 retryable=true, client 决定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4846320"/>
            <a:ext cx="11277295" cy="1554480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4983480"/>
            <a:ext cx="10911535" cy="12801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1F3A5F"/>
                </a:solidFill>
                <a:latin typeface="Noto Sans CJK SC"/>
              </a:rPr>
              <a:t>为什么 — 静默重试隐藏失败、对 side-effect 重复扣费;
不可观测 → 不知道是 cap-denied 还是 timed-out 还是 audit-dropped;
无 bound → agent 等桥接等 server 等工具,人页班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01 · ATD 设计哲学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11 /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反模式速查 (10 条)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783080"/>
            <a:ext cx="11277295" cy="4754880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DC2626"/>
                </a:solidFill>
                <a:latin typeface="Noto Sans CJK SC"/>
              </a:rPr>
              <a:t>✘  手抄 SKILL.md 到 agent 平台 config 目录 (原则 2)</a:t>
            </a:r>
          </a:p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DC2626"/>
                </a:solidFill>
                <a:latin typeface="Noto Sans CJK SC"/>
              </a:rPr>
              <a:t>✘  手写 args description 重复 input_schema (原则 1)</a:t>
            </a:r>
          </a:p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DC2626"/>
                </a:solidFill>
                <a:latin typeface="Noto Sans CJK SC"/>
              </a:rPr>
              <a:t>✘  per-handler 硬编码 auth / capability 检查 (原则 3)</a:t>
            </a:r>
          </a:p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DC2626"/>
                </a:solidFill>
                <a:latin typeface="Noto Sans CJK SC"/>
              </a:rPr>
              <a:t>✘  返回自由文本错误字符串不带数字 code (原则 4)</a:t>
            </a:r>
          </a:p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DC2626"/>
                </a:solidFill>
                <a:latin typeface="Noto Sans CJK SC"/>
              </a:rPr>
              <a:t>✘  用 module-global state 模拟 per-connection (原则 5)</a:t>
            </a:r>
          </a:p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DC2626"/>
                </a:solidFill>
                <a:latin typeface="Noto Sans CJK SC"/>
              </a:rPr>
              <a:t>✘  tool id 烧进 agent system prompt (原则 6)</a:t>
            </a:r>
          </a:p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DC2626"/>
                </a:solidFill>
                <a:latin typeface="Noto Sans CJK SC"/>
              </a:rPr>
              <a:t>✘  Handler 内部隐式 retry loop (原则 7)</a:t>
            </a:r>
          </a:p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DC2626"/>
                </a:solidFill>
                <a:latin typeface="Noto Sans CJK SC"/>
              </a:rPr>
              <a:t>✘  raise Exception(...) 作为主失败路径 (原则 4 + 7)</a:t>
            </a:r>
          </a:p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DC2626"/>
                </a:solidFill>
                <a:latin typeface="Noto Sans CJK SC"/>
              </a:rPr>
              <a:t>✘  捕获 asyncio.CancelledError 后继续 (原则 7)</a:t>
            </a:r>
          </a:p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DC2626"/>
                </a:solidFill>
                <a:latin typeface="Noto Sans CJK SC"/>
              </a:rPr>
              <a:t>✘  给 wire frame 加 per-platform shim (破坏 byte-compat)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01 · ATD 设计哲学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12 /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Adopter Checklist [1/4] — schema + skills + discovery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783080"/>
            <a:ext cx="11277295" cy="4754880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1A1A1A"/>
                </a:solidFill>
                <a:latin typeface="Noto Sans CJK SC"/>
              </a:rPr>
              <a:t>☐  每个工具事实只在一份 ToolDefinition 里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1A1A1A"/>
                </a:solidFill>
                <a:latin typeface="Noto Sans CJK SC"/>
              </a:rPr>
              <a:t>☐  ToolSummary 派生自 ToolDefinition, 不手维护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1A1A1A"/>
                </a:solidFill>
                <a:latin typeface="Noto Sans CJK SC"/>
              </a:rPr>
              <a:t>☐  SKILL.md description frontmatter 与 ToolDefinition.description 一致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1A1A1A"/>
                </a:solidFill>
                <a:latin typeface="Noto Sans CJK SC"/>
              </a:rPr>
              <a:t>☐  LLM-adapter shape (OpenAI / Anthropic) 从 summary 生成无平行映射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1A1A1A"/>
                </a:solidFill>
                <a:latin typeface="Noto Sans CJK SC"/>
              </a:rPr>
              <a:t>☐  工具暴露 &lt;publisher&gt;:&lt;service&gt;.skills.list + .skills.get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1A1A1A"/>
                </a:solidFill>
                <a:latin typeface="Noto Sans CJK SC"/>
              </a:rPr>
              <a:t>☐  agent 平台 config 内不手抄 SKILL.md (走 atd skills sync)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1A1A1A"/>
                </a:solidFill>
                <a:latin typeface="Noto Sans CJK SC"/>
              </a:rPr>
              <a:t>☐  agent prompt 不硬编码 tool id (session 启动 discover)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01 · ATD 设计哲学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13 /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Adopter Checklist [2/4] — capabilities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783080"/>
            <a:ext cx="11277295" cy="4754880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1A1A1A"/>
                </a:solidFill>
                <a:latin typeface="Noto Sans CJK SC"/>
              </a:rPr>
              <a:t>☐  每个需要 cap 的工具声明 required_capabilities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1A1A1A"/>
                </a:solidFill>
                <a:latin typeface="Noto Sans CJK SC"/>
              </a:rPr>
              <a:t>☐  ServerPolicy 用 allow-list 求交集 (不 grant 一切)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1A1A1A"/>
                </a:solidFill>
                <a:latin typeface="Noto Sans CJK SC"/>
              </a:rPr>
              <a:t>☐  Handler 内无 if not has_cap(...) 检查 — gating 在 dispatch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1A1A1A"/>
                </a:solidFill>
                <a:latin typeface="Noto Sans CJK SC"/>
              </a:rPr>
              <a:t>☐  tool_schema 响应 include required_capabilities 给 LLM 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01 · ATD 设计哲学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14 /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Adopter Checklist [3/4] — errors + state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783080"/>
            <a:ext cx="11277295" cy="4754880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1A1A1A"/>
                </a:solidFill>
                <a:latin typeface="Noto Sans CJK SC"/>
              </a:rPr>
              <a:t>☐  每个 ToolError / ToolFailure 带数字 code (无 "ERR" / "FAIL")</a:t>
            </a:r>
          </a:p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1A1A1A"/>
                </a:solidFill>
                <a:latin typeface="Noto Sans CJK SC"/>
              </a:rPr>
              <a:t>☐  Adopter code 落对 namespace (cbrain 2000+ / healthkit 3000+ / celia 4000+)</a:t>
            </a:r>
          </a:p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1A1A1A"/>
                </a:solidFill>
                <a:latin typeface="Noto Sans CJK SC"/>
              </a:rPr>
              <a:t>☐  ToolDefinition.errors 广告该工具可能 emit 的 code</a:t>
            </a:r>
          </a:p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1A1A1A"/>
                </a:solidFill>
                <a:latin typeface="Noto Sans CJK SC"/>
              </a:rPr>
              <a:t>☐  retryable 诚实 — True 只当 client 可安全 re-call</a:t>
            </a:r>
          </a:p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1A1A1A"/>
                </a:solidFill>
                <a:latin typeface="Noto Sans CJK SC"/>
              </a:rPr>
              <a:t>☐  主失败路径无 raise Exception(...)</a:t>
            </a:r>
          </a:p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1A1A1A"/>
                </a:solidFill>
                <a:latin typeface="Noto Sans CJK SC"/>
              </a:rPr>
              <a:t>☐  每个工具状态模型显式: stateless / per-connection / shared-world</a:t>
            </a:r>
          </a:p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1A1A1A"/>
                </a:solidFill>
                <a:latin typeface="Noto Sans CJK SC"/>
              </a:rPr>
              <a:t>☐  Shared-world 工具在 description 说清楚</a:t>
            </a:r>
          </a:p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1A1A1A"/>
                </a:solidFill>
                <a:latin typeface="Noto Sans CJK SC"/>
              </a:rPr>
              <a:t>☐  无 module-global 变量模拟 per-connection state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01 · ATD 设计哲学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15 /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Adopter Checklist [4/4] — observability + wire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783080"/>
            <a:ext cx="11277295" cy="4754880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1A1A1A"/>
                </a:solidFill>
                <a:latin typeface="Noto Sans CJK SC"/>
              </a:rPr>
              <a:t>☐  每个工具设 resources.timeout_ms (或自觉接 30s 默认)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1A1A1A"/>
                </a:solidFill>
                <a:latin typeface="Noto Sans CJK SC"/>
              </a:rPr>
              <a:t>☐  中间件实现 audit / tracing / rate; dispatch 可观测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1A1A1A"/>
                </a:solidFill>
                <a:latin typeface="Noto Sans CJK SC"/>
              </a:rPr>
              <a:t>☐  Handler 内无静默 retry loop (返 retryable=True)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1A1A1A"/>
                </a:solidFill>
                <a:latin typeface="Noto Sans CJK SC"/>
              </a:rPr>
              <a:t>☐  asyncio.CancelledError 总是 re-raise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1A1A1A"/>
                </a:solidFill>
                <a:latin typeface="Noto Sans CJK SC"/>
              </a:rPr>
              <a:t>☐  无 platform-specific shim 包 wire frame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1A1A1A"/>
                </a:solidFill>
                <a:latin typeface="Noto Sans CJK SC"/>
              </a:rPr>
              <a:t>☐  跨语言实现 先过 atd-conformance fixture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01 · ATD 设计哲学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16 /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原则在三家 adopter 的应用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783080"/>
          <a:ext cx="11277292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1004"/>
                <a:gridCol w="2932096"/>
                <a:gridCol w="2932096"/>
                <a:gridCol w="2932096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SC"/>
                        </a:rPr>
                        <a:t>原则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SC"/>
                        </a:rPr>
                        <a:t>healthkit_cli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SC"/>
                        </a:rPr>
                        <a:t>celia_phr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SC"/>
                        </a:rPr>
                        <a:t>cbrain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Noto Sans CJK SC"/>
                        </a:rPr>
                        <a:t>1. ToolDefinition 源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✅ HMS OpenAPI 单源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✅ FHIR R4 单源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🟡 SKILL home 风险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Noto Sans CJK SC"/>
                        </a:rPr>
                        <a:t>2. Skills 跟工具走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✅ skills.list/get + sync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✅ 同上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🟡 待迁移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Noto Sans CJK SC"/>
                        </a:rPr>
                        <a:t>3. Capability 协商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✅ records:read/write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✅ 同模式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🟡 待挑约定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Noto Sans CJK SC"/>
                        </a:rPr>
                        <a:t>4. Error namespace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✅ 3000-3099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✅ 4000-4099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🟡 待 claim 2000+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Noto Sans CJK SC"/>
                        </a:rPr>
                        <a:t>5. Stateless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✅ per-call token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✅ HTTP per-request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🟢 shared-world (intentional)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Noto Sans CJK SC"/>
                        </a:rPr>
                        <a:t>6. Discovery canonical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🟢 bridge-side discover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🟢 同上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🟢 同上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Noto Sans CJK SC"/>
                        </a:rPr>
                        <a:t>7. Bounded + observable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✅ timeout + retryable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✅ audit mpsc + metrics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🟢 Merkle middleware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01 · ATD 设计哲学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17 /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ATD 是小协议 + 大约定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783080"/>
            <a:ext cx="11277295" cy="22860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1A1A1A"/>
                </a:solidFill>
                <a:latin typeface="Noto Sans CJK SC"/>
              </a:rPr>
              <a:t>ATD 是一份小协议被一组大得多的设计选择包围。
协议 commit 给 wire 格式 / 握手 / discovery shape。
其他全是 adopter 约定 ——
如何发布 skill / 命名错误 / 限状态范围 / 设 deadline。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389120"/>
            <a:ext cx="11277295" cy="2103120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4572000"/>
            <a:ext cx="10911535" cy="18288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1">
                <a:solidFill>
                  <a:srgbClr val="1F3A5F"/>
                </a:solidFill>
                <a:latin typeface="Noto Sans CJK SC"/>
              </a:rPr>
              <a:t>约定在软件里会静默退化。v1 schema-source-of-truth 在 v2 被「再加一个 docstring」侵蚀。v3 ship 的 skills-via-meta-tools 在 v5 又静悄悄变回手抄。
约定不退化的方式: 写下来、用 adopter 示例佐证、每次新 adopter 集成时重读。本文档就是这个 artifact。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01 · ATD 设计哲学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18 /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新 adopter 推荐阅读顺序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783080"/>
            <a:ext cx="11277295" cy="4754880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1A1A1A"/>
                </a:solidFill>
                <a:latin typeface="Noto Sans CJK SC"/>
              </a:rPr>
              <a:t>•  1. docs/atd-positioning.md — ATD 是什么、为什么 (5 分钟)</a:t>
            </a:r>
          </a:p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1A1A1A"/>
                </a:solidFill>
                <a:latin typeface="Noto Sans CJK SC"/>
              </a:rPr>
              <a:t>•  2. docs/atd-architecture.md — 系统视图 (20 分钟)</a:t>
            </a:r>
          </a:p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1A1A1A"/>
                </a:solidFill>
                <a:latin typeface="Noto Sans CJK SC"/>
              </a:rPr>
              <a:t>•  3. docs/atd-design-philosophy.md — adopter 原则 (15 分钟)</a:t>
            </a:r>
          </a:p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1A1A1A"/>
                </a:solidFill>
                <a:latin typeface="Noto Sans CJK SC"/>
              </a:rPr>
              <a:t>•  4. docs/integrations/overview.md — 桥接 / 接入路径</a:t>
            </a:r>
          </a:p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1A1A1A"/>
                </a:solidFill>
                <a:latin typeface="Noto Sans CJK SC"/>
              </a:rPr>
              <a:t>•  5. docs/integrations/python-server.md 或 crates/atd-server/README.md — server runtime hello-world</a:t>
            </a:r>
          </a:p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1A1A1A"/>
                </a:solidFill>
                <a:latin typeface="Noto Sans CJK SC"/>
              </a:rPr>
              <a:t>•  6. 目标桥接的集成 recipe (hermes.md / claude-code.md / openclaw.md / ...)</a:t>
            </a:r>
          </a:p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1A1A1A"/>
                </a:solidFill>
                <a:latin typeface="Noto Sans CJK SC"/>
              </a:rPr>
              <a:t>•  7. docs/protocol/wire-format.md — 参考, 按需查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11277295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7280"/>
                </a:solidFill>
                <a:latin typeface="Noto Sans CJK SC"/>
              </a:rPr>
              <a:t>前 3 个是哲学,其余是执行。直接跳到执行就会出本文档要防的漂移。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01 · ATD 设计哲学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19 /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Reminder: 每个决策对三个读者都成立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828800"/>
            <a:ext cx="3657600" cy="41148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329184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F3A5F"/>
                </a:solidFill>
                <a:latin typeface="Noto Sans CJK SC"/>
              </a:rPr>
              <a:t>LLM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3291840" cy="3383280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1A1A1A"/>
                </a:solidFill>
                <a:latin typeface="Noto Sans CJK SC"/>
              </a:rPr>
              <a:t>•  typed error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1A1A1A"/>
                </a:solidFill>
                <a:latin typeface="Noto Sans CJK SC"/>
              </a:rPr>
              <a:t>•  predictable args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1A1A1A"/>
                </a:solidFill>
                <a:latin typeface="Noto Sans CJK SC"/>
              </a:rPr>
              <a:t>•  discovery 自动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1A1A1A"/>
                </a:solidFill>
                <a:latin typeface="Noto Sans CJK SC"/>
              </a:rPr>
              <a:t>•  structured intent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828800"/>
            <a:ext cx="3657600" cy="41148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480560" y="1920240"/>
            <a:ext cx="329184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F3A5F"/>
                </a:solidFill>
                <a:latin typeface="Noto Sans CJK SC"/>
              </a:rPr>
              <a:t>人类运维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468880"/>
            <a:ext cx="3291840" cy="3383280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1A1A1A"/>
                </a:solidFill>
                <a:latin typeface="Noto Sans CJK SC"/>
              </a:rPr>
              <a:t>•  audit trail (结构化 JSON Lines)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1A1A1A"/>
                </a:solidFill>
                <a:latin typeface="Noto Sans CJK SC"/>
              </a:rPr>
              <a:t>•  metrics counters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1A1A1A"/>
                </a:solidFill>
                <a:latin typeface="Noto Sans CJK SC"/>
              </a:rPr>
              <a:t>•  cap 拒绝可见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1A1A1A"/>
                </a:solidFill>
                <a:latin typeface="Noto Sans CJK SC"/>
              </a:rPr>
              <a:t>•  secret 不漏到 log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828800"/>
            <a:ext cx="3657600" cy="41148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21040" y="1920240"/>
            <a:ext cx="329184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F3A5F"/>
                </a:solidFill>
                <a:latin typeface="Noto Sans CJK SC"/>
              </a:rPr>
              <a:t>桥接 (Hermes / MCP / 自研)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468880"/>
            <a:ext cx="3291840" cy="3383280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1A1A1A"/>
                </a:solidFill>
                <a:latin typeface="Noto Sans CJK SC"/>
              </a:rPr>
              <a:t>•  稳定握手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1A1A1A"/>
                </a:solidFill>
                <a:latin typeface="Noto Sans CJK SC"/>
              </a:rPr>
              <a:t>•  cap 协商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1A1A1A"/>
                </a:solidFill>
                <a:latin typeface="Noto Sans CJK SC"/>
              </a:rPr>
              <a:t>•  transport 无意外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1A1A1A"/>
                </a:solidFill>
                <a:latin typeface="Noto Sans CJK SC"/>
              </a:rPr>
              <a:t>•  byte-compat wire frame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01 · ATD 设计哲学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20 /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一句话回顾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731520" y="2286000"/>
            <a:ext cx="10728655" cy="3200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05840" y="2606040"/>
            <a:ext cx="10180015" cy="2560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2200" b="0" i="0">
                <a:solidFill>
                  <a:srgbClr val="FFFFFF"/>
                </a:solidFill>
                <a:latin typeface="Noto Sans CJK SC"/>
              </a:rPr>
              <a:t>协议是 wire 格式 + 握手 + discovery shape。
其余全是 adopter 约定 —— 7 条原则保它不退化。
写下来 · 用 adopter 示例佐证 · 每次新接入时重读。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 i="1">
                <a:solidFill>
                  <a:srgbClr val="6B7280"/>
                </a:solidFill>
                <a:latin typeface="Noto Sans CJK SC"/>
              </a:rPr>
              <a:t>下一份 deck: 02-architecture-deepdive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01 · ATD 设计哲学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21 /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References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783080"/>
            <a:ext cx="11277295" cy="4754880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A1A1A"/>
                </a:solidFill>
                <a:latin typeface="Noto Sans CJK SC"/>
              </a:rPr>
              <a:t>•  docs/atd-design-philosophy.md (本 deck 主源,2026-05-19)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A1A1A"/>
                </a:solidFill>
                <a:latin typeface="Noto Sans CJK SC"/>
              </a:rPr>
              <a:t>•  docs/atd-positioning.md (定位)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A1A1A"/>
                </a:solidFill>
                <a:latin typeface="Noto Sans CJK SC"/>
              </a:rPr>
              <a:t>•  docs/atd-architecture.md (架构)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A1A1A"/>
                </a:solidFill>
                <a:latin typeface="Noto Sans CJK SC"/>
              </a:rPr>
              <a:t>•  docs/protocol/error-codes.md (1000-1099 协议码完整表)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A1A1A"/>
                </a:solidFill>
                <a:latin typeface="Noto Sans CJK SC"/>
              </a:rPr>
              <a:t>•  docs/issues/2026-05-19-cbrain-adopter-requirements.md (cbrain checklist 实证)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A1A1A"/>
                </a:solidFill>
                <a:latin typeface="Noto Sans CJK SC"/>
              </a:rPr>
              <a:t>•  docs/issues/2026-05-26-atd-ts-sdk-adopter-requirements.md (atd-ts pre-design 应用 7 原则)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