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BBF24"/>
                </a:solidFill>
                <a:latin typeface="Noto Sans CJK SC"/>
              </a:rPr>
              <a:t>ATD · Agent Tool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Noto Sans CJK SC"/>
              </a:rPr>
              <a:t>ATD 总览 ── 是什么 / 为什么用 / 为什么不用 raw 替代品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49039"/>
            <a:ext cx="1005840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0">
                <a:solidFill>
                  <a:srgbClr val="CBD5E1"/>
                </a:solidFill>
                <a:latin typeface="Noto Sans CJK SC"/>
              </a:rPr>
              <a:t>Agent Tool Dispatch — 跨 vendor 中立的 agent ↔ 工具调度协议
1.1.0 已 publish · 17 个 crate · 4 个生产 adopter · Apache-2.0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CBD5E1"/>
                </a:solidFill>
                <a:latin typeface="Noto Sans CJK SC"/>
              </a:rPr>
              <a:t>docs/intro/atd-tech-deck.zh.md · ATD maintainers ·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一页执行摘要 — 不用 ATD vs 用 ATD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3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4059826"/>
                <a:gridCol w="4736463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不用 ATD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用 ATD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工具被多 agent 平台调用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每平台一套适配代码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写一份 server,所有平台用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多用户 / 多租户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N 进程 × N 配置 × N OAuth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一进程 + caller_id + 一份 broker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审计 / 可观测性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shell 历史 + grep stdout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结构化 JSON Lines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能力门禁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各工具自检(漂移)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dispatch 层一致 gate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限流 / 超时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各工具自实现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tier deadline + semaphore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跨厂商组合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自写 multiplexer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桥接多 socket,合并 catalog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LLM 一次成功率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看 --help(v1.1: 24%)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structured(v1.2: 95.2%)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实证 v1.4.0: ATD 路径 2 调用 ~1.6s 零错试 / CLI fallback 8 调用 ~6s 3 次走错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一句话定位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828800"/>
            <a:ext cx="10911535" cy="320040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62895" cy="2651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1A1A1A"/>
                </a:solidFill>
                <a:latin typeface="Noto Sans CJK SC"/>
              </a:rPr>
              <a:t>ATD 是 agent 调用工具时的一层中立调度协议。
Vendor 把工具 host 成一个 ATD server(Unix socket 或 HTTP),任意 agent 平台(Hermes / Claude Code / Cursor / 自研)通过同样的 wire 格式 discover / describe / call / dry-run。
中间层提供 capability gate / audit log / 多租户 token 路由 / tool 可见性 / skill 同步 / cursor 分页 —— raw CLI 拉不出、raw MCP 没规范、per-vendor 自研每个都要重写的东西。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完整定位见 docs/atd-positioning.md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"四个任意" —— 把工具世界的四种分裂折叠到一个统一面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913"/>
                <a:gridCol w="4736463"/>
                <a:gridCol w="4510918"/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现状的分裂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的答案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任意工具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CLI / REST / MCP / native SDK 各自一套 shape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一份 ToolDefinition 映射多个 binding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任意平台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Linux / macOS / iOS / Android / HMOS 各组调用面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binding 选择在 server 侧 dispatch 时决定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 agent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Claude Code 吃不下 OpenAI function-calling shape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所有 agent 同一份 SDK; adapter 渲 per-provider dict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任意 framework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LangChain ≠ MCP ≠ Apple App Intent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一份定义,多 framework consumer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源自 ATD architecture §1 的核心 interop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v1.4.0 case study 实测 — ATD 严格优于 CLI fallback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2255459"/>
                <a:gridCol w="5638647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 路径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CLI fallback 路径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调用次数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8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总耗时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~1.6s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~6s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走错路径次数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0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3 (错 wrapper / --offset 不存在 ×2)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首次拿到数据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call #1 (1.2s)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call #6 (5s)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Audit 可观测性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 entries 完整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shell log only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agent 需自知 wrapper 命令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是 (healthkit healthkit +x 双关键字)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agent 需自知 HMS 30 天上限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否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是 (撞错才知道)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同一 Hermes session × DeepSeek × prompt; ATD bridge + CLI fallback 都摆在 agent 面前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healthkit_cli 三轮 case study —— v1.1 → v1.2 → v1.4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048"/>
                <a:gridCol w="5074782"/>
                <a:gridCol w="4736463"/>
              </a:tblGrid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版本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工具 surface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LLM 表现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v1.1.0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8 个 raw HMS REST endpoint (permissive {type:object} schema)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24% 成功率, 79 次调用, 66% Invalid param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v1.2.0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26 个 helper-tool (auto-derived 自 CLI + SKILL.md)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95.2% 成功率, 21 次调用 (-73%), 1 次失败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v1.4.0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27 工具 + 多租户 mode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2 ATD 调用 vs 8 CLI fallback, 0 错试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schema + intent_examples + namespace = 成功率从 24% 到 95%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用 ATD / 不用 ATD 的边界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324447" y="1645920"/>
            <a:ext cx="5410047" cy="484632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✅ 用 ATD 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1783080"/>
            <a:ext cx="5044287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3A5F"/>
                </a:solidFill>
                <a:latin typeface="Noto Sans CJK SC"/>
              </a:rPr>
              <a:t>✘ 不用 ATD 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工具 surface 要被 ≥1 个 LLM agent 平台用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预期多 user / 多 caller_id (多租户)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需要审计、可观测性、capability 门禁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想给 Hermes + Claude Code + Cursor 用,不重复 N 套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工具底下是真后端 (REST / DB / cloud API)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多个 vendor 想一起 host 给同一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331720"/>
            <a:ext cx="5044287" cy="39776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单进程脚本 + 单 user + 单工具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工具是 sandbox 内纯计算 / 无 side effect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工具在 agent 进程内 (in-process Tool trait 够了)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Noto Sans CJK SC"/>
              </a:rPr>
              <a:t>•  你只要 MCP,且不需多租户/审计/跨 vendor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对比 raw CLI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550"/>
                <a:gridCol w="4285372"/>
                <a:gridCol w="4285372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关注点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CLI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ATD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第一次调用成功率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需先猜命令 / flag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 次成功, 0 retry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多 agent 共享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N 进程 / N 配置 / N OAuth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 server / N caller_id / broker 路由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Audit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shell history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结构化 JSON Lines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跨 vendor 组合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自己写 multiplexer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桥接多 socket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LLM matching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看 --help 文本 (混沌)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description + intent_examples (结构化)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A1A1A"/>
                          </a:solidFill>
                          <a:latin typeface="Noto Sans CJK SC"/>
                        </a:rPr>
                        <a:t>升级安全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flag 加减破坏 agent prompt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1A1A1A"/>
                          </a:solidFill>
                          <a:latin typeface="Noto Sans CJK SC"/>
                        </a:rPr>
                        <a:t>tool def 是 schema, rev 跟踪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对比 raw MCP — MCP 没规范的东西 ATD 在协议层 ship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B7280"/>
                </a:solidFill>
                <a:latin typeface="Noto Sans CJK SC"/>
              </a:rPr>
              <a:t>MCP 是 client-server 协议,缺以下能力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94415" cy="39319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server 侧 capability gate(每个 client 自己 gate)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server 侧 rate limit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multi-tenant token routing(MCP 假设单租户 stdio)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audit log 标准格式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tool visibility 多档(只有 hidden / visible 二元)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safety levels (Read / Write / Financial / Privacy / Physical / Destructive)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•  tier 概念 (Hot / Warm / Cold + 推导 deadline)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852160"/>
            <a:ext cx="11094415" cy="77724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728655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F3A5F"/>
                </a:solidFill>
                <a:latin typeface="Noto Sans CJK SC"/>
              </a:rPr>
              <a:t>atd-mcp-bridge 兼容现有 MCP 客户端 — Hermes / Claude Code / Cursor 不改一行代码即可接 ATD server。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对比 per-vendor 自研 adapter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83080"/>
            <a:ext cx="11094415" cy="22860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1A1A1A"/>
                </a:solidFill>
                <a:latin typeface="Noto Sans CJK SC"/>
              </a:rPr>
              <a:t>每写一次自研 adapter 都要重新设计:
  capability · audit · rate limit · token 管理 · stop logic
ATD 反过来 ——
  atd-runtime + atd-server ≈ 2000 行 Rust,
  vendor 写自己 server 只需: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206240"/>
            <a:ext cx="11094415" cy="20116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impl Tool for MyTool { fn definition() + fn call() }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Registry::register(my_tool);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atd_server::Server::new(registry, config).run().await?;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// healthkit_cli 的 `healthkit serve` 是 ~150 行 glue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// (一半是命令行参数解析)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11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Wire protocol — 5 message + 1 续传 (1.x 稳定面)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004"/>
                <a:gridCol w="879629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变体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用途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Hello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握手。client_id / requested_capabilities / 可选 ucan_tokens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Ping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心跳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ToolList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Discovery。返回 Vec&lt;ToolSummary&gt;,按 DiscoverFilter 过滤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ToolSchema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单工具深 describe,返回完整 ToolDefinition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RunTool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调用。tool_id / args / CallOptions → ToolResultResponse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A1A1A"/>
                          </a:solidFill>
                          <a:latin typeface="Noto Sans CJK SC"/>
                        </a:rPr>
                        <a:t>RunToolContinue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分页续传,带 opaque cursor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Schema 冻结为 1.x 稳定面 · UDS 和 HTTP 共用同 dispatch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ToolDefinition —— 工具的完整声明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691640"/>
            <a:ext cx="11277295" cy="49377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pub struct ToolDefinition {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id: String,                    // "ref:fs.read"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name: String,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description: String,           // LLM 看到的自然语言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version: String,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capability: ToolCapability,    // domain / actions / intent_examples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input_schema: Value,           // JSON Schema 2020-12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output_schema: Value,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bindings: Vec&lt;ToolBinding&gt;,    // Native / Cli / future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safety: ToolSafety,            // Read/Write/Financial/Privacy/...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resources: ToolResources,      // timeout_ms / max_concurrent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trust: ToolTrust,              // publisher / L0-L4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visibility: ToolVisibility,    // Read / Write / Dangerous / Hidden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required_capabilities: Vec&lt;String&gt;,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tier: Option&lt;ToolTier&gt;,        // Hot / Warm / Cold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    pub errors: Vec&lt;ToolErrorDef&gt;,</a:t>
            </a:r>
          </a:p>
          <a:p>
            <a:pPr>
              <a:lnSpc>
                <a:spcPct val="120000"/>
              </a:lnSpc>
            </a:pPr>
            <a:r>
              <a:rPr sz="1400" b="0" i="0">
                <a:solidFill>
                  <a:srgbClr val="E5E7EB"/>
                </a:solidFill>
                <a:latin typeface="Noto Sans Mono CJK SC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5 层架构 + 3 核心 / 2 扩展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Noto Sans CJK SC"/>
              </a:rPr>
              <a:t>User intent (voice · text · trigger)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2"/>
            <a:ext cx="1091153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Agent framework (Claude Code · Cursor · Hermes · LangChain)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26664"/>
            <a:ext cx="10911535" cy="50292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3026664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Skills layer (adjacent) — SKILL.md · 渐进披露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48456"/>
            <a:ext cx="1091153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648456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Client SDK — discover · describe · call · call_page · call_all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70248"/>
            <a:ext cx="10911535" cy="502920"/>
          </a:xfrm>
          <a:prstGeom prst="rect">
            <a:avLst/>
          </a:prstGeom>
          <a:solidFill>
            <a:srgbClr val="E85D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4270248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Dispatch — capability · tier · binding · cursor · middleware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1091153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Listener — UDS (atd-server) / HTTP+MCP (atd-server-http)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513832"/>
            <a:ext cx="10911535" cy="50292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513832"/>
            <a:ext cx="105457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A1A"/>
                </a:solidFill>
                <a:latin typeface="Noto Sans CJK SC"/>
              </a:rPr>
              <a:t>Tool universe — bindings + 扩展点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3 core = schema · dispatch · security; 2 extension = bindings · middleware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17 crate workspace map (1.1.0 stable)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7729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188"/>
                <a:gridCol w="7894106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crate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职责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atd-protocol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wire 格式 + 类型 + sanitize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atd-sdk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Rust 客户端 SDK (discover/describe/call/call_page/call_all)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atd-runtime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registry / dispatch / audit / rate / TokenBroker / UCAN / Cursor / Metrics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Unix socket listener + 连接任务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atd-server-http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HTTP listener + MCP JSON-RPC translator + bearer auth + SSE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atd-middleware-fhir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FHIR R4 egress validation (75-URI 白名单)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atd-middleware-pii-redact-medical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HIPAA Safe Harbor PHI redaction (18 类 × 13 路径)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atd-tools-{echo, fs, shell, web}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4 个内置工具示例 crate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atd-mcp-bridge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MCP/stdio ↔ ATD wire 桥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atd 开发者 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atd-ref-server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参考 server binary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atd-conformance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跨实现 conformance fixture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46175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atd-mock-weather-server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跨 vendor demo bin (publish = false)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7 大高价值应用场景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783080"/>
            <a:ext cx="11277295" cy="48463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医疗 / PHR 合规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FHIR + HIPAA PHI · UCAN sub-agent delegation · 多 OAuth 多用户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Agent-Native CLI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一个 binary 四个出口 · CLI/UDS/MCP-stdio/MCP-HTTP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跨厂商工具组合 (cross-vendor)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桥接多 socket · 每 vendor 自治 audit + broker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Embodied agent / 物理仿真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Python in-process server · shared world state 显式声明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跨设备 federation (远程 ATD endpoint)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cursor 分页 + provenance · CRDT 同步 + 失败恢复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Agentic IDE / 代码助手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统一 fs / shell / web 表面 · audit · capability 升权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A1A1A"/>
                </a:solidFill>
                <a:latin typeface="Noto Sans CJK SC"/>
              </a:rPr>
              <a:t>•  多 agent 编排 (orchestrator + N children)</a:t>
            </a:r>
          </a:p>
          <a:p>
            <a:pPr algn="l" lvl="1">
              <a:lnSpc>
                <a:spcPct val="135000"/>
              </a:lnSpc>
            </a:pPr>
            <a:r>
              <a:rPr sz="1300" b="0" i="0">
                <a:solidFill>
                  <a:srgbClr val="6B7280"/>
                </a:solidFill>
                <a:latin typeface="Noto Sans CJK SC"/>
              </a:rPr>
              <a:t>    ▸  UCAN delegation chain · caller_id 路由 + audit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Active adopters (post-1.0)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7729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367"/>
                <a:gridCol w="2255459"/>
                <a:gridCol w="4285372"/>
                <a:gridCol w="2932096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Adopter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Transport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驱动的 SP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Noto Sans CJK SC"/>
                        </a:rPr>
                        <a:t>状态</a:t>
                      </a:r>
                    </a:p>
                  </a:txBody>
                  <a:tcPr marL="76200" marR="76200" marT="50800" marB="50800">
                    <a:solidFill>
                      <a:srgbClr val="1F3A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healthkit_cli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Unix socket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首个 vendor server · 多租户 broker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case study v1.4.0 头对头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celia_phr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HTTP via atd-server-http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streamable-http · token-broker-phase2 · capability-v2 · medical-middleware · concurrency-baseline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closed-verified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cbrain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Python in-process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server-py-v1 · 22/24 conformance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adopter-validation</a:t>
                      </a:r>
                    </a:p>
                  </a:txBody>
                  <a:tcPr marL="76200" marR="76200" marT="50800" marB="50800">
                    <a:solidFill>
                      <a:srgbClr val="F9FA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Noto Sans CJK SC"/>
                        </a:rPr>
                        <a:t>oh-cli / mycli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Unix + HTTP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mcp-native-v1 · CLI ↔ ATD bidirectional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Noto Sans CJK SC"/>
                        </a:rPr>
                        <a:t>1.1.0 同日落地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ATD post-1.0 SP 触发模式: 具名 adopter 拉动,不抢跑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00 · ATD 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05695" y="109728"/>
            <a:ext cx="1828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Noto Sans CJK SC"/>
              </a:rPr>
              <a:t>17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3A5F"/>
                </a:solidFill>
                <a:latin typeface="Noto Sans CJK SC"/>
              </a:rPr>
              <a:t>一句话回顾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417320"/>
            <a:ext cx="11277295" cy="0"/>
          </a:xfrm>
          <a:prstGeom prst="line">
            <a:avLst/>
          </a:prstGeom>
          <a:ln w="25400">
            <a:solidFill>
              <a:srgbClr val="E85D0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31520" y="2011680"/>
            <a:ext cx="10728655" cy="3657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180015" cy="3200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FFFFFF"/>
                </a:solidFill>
                <a:latin typeface="Noto Sans CJK SC"/>
              </a:rPr>
              <a:t>ATD = 一份冻结的 5-message 中立协议
+ 一套可装配的 server runtime
  (capability · audit · rate · TokenBroker · UCAN-lite · Cursor · middleware)
+ 一组桥接 (MCP-bridge · SDK · CLI)
让 vendor 写一份 server,被任意 agent 平台用,
自带审计 / 多租户 / 跨 vendor 组合 / 子委托。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1">
                <a:solidFill>
                  <a:srgbClr val="6B7280"/>
                </a:solidFill>
                <a:latin typeface="Noto Sans CJK SC"/>
              </a:rPr>
              <a:t>下一份 deck: 01-design-philosophy — 7 条原则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