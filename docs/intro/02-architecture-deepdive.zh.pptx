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100584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FBBF24"/>
                </a:solidFill>
                <a:latin typeface="Noto Sans CJK SC"/>
              </a:rPr>
              <a:t>ATD · Agent Tool Dispatch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10058400" cy="1463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Noto Sans CJK SC"/>
              </a:rPr>
              <a:t>ATD 架构深度 ── 统一 schema · dispatch · 安全 · middleware · 17 crate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749039"/>
            <a:ext cx="10058400" cy="18288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0" i="0">
                <a:solidFill>
                  <a:srgbClr val="CBD5E1"/>
                </a:solidFill>
                <a:latin typeface="Noto Sans CJK SC"/>
              </a:rPr>
              <a:t>3 核心机制 (Schema / Dispatch / Security) + 2 扩展机制 (Bindings / Middleware)
1.x wire 已冻结 · UDS 与 HTTP listener 共用同 dispatch entry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6035040"/>
            <a:ext cx="100584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CBD5E1"/>
                </a:solidFill>
                <a:latin typeface="Noto Sans CJK SC"/>
              </a:rPr>
              <a:t>基于 docs/atd-architecture.md · 2026-05-21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02 · ATD 架构深度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2 /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What ATD is — wire protocol + 类型化 RPC 表面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783080"/>
          <a:ext cx="1127729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4510918"/>
                <a:gridCol w="4510918"/>
              </a:tblGrid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Noto Sans CJK SC"/>
                        </a:rPr>
                        <a:t>维度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Noto Sans CJK SC"/>
                        </a:rPr>
                        <a:t>现状的分裂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Noto Sans CJK SC"/>
                        </a:rPr>
                        <a:t>ATD 的答案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A1A1A"/>
                          </a:solidFill>
                          <a:latin typeface="Noto Sans CJK SC"/>
                        </a:rPr>
                        <a:t>任意工具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Noto Sans CJK SC"/>
                        </a:rPr>
                        <a:t>CLI / REST / MCP / native SDK 各 shape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Noto Sans CJK SC"/>
                        </a:rPr>
                        <a:t>一份 ToolDefinition 映射多 binding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A1A1A"/>
                          </a:solidFill>
                          <a:latin typeface="Noto Sans CJK SC"/>
                        </a:rPr>
                        <a:t>任意平台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Noto Sans CJK SC"/>
                        </a:rPr>
                        <a:t>Linux / macOS / iOS / Android / HMOS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Noto Sans CJK SC"/>
                        </a:rPr>
                        <a:t>binding 选择在 server 侧 dispatch 时决定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A1A1A"/>
                          </a:solidFill>
                          <a:latin typeface="Noto Sans CJK SC"/>
                        </a:rPr>
                        <a:t>任意 agent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Noto Sans CJK SC"/>
                        </a:rPr>
                        <a:t>Claude Code 吃不下 OpenAI shape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Noto Sans CJK SC"/>
                        </a:rPr>
                        <a:t>所有 agent 同 SDK; adapter 渲 per-provider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A1A1A"/>
                          </a:solidFill>
                          <a:latin typeface="Noto Sans CJK SC"/>
                        </a:rPr>
                        <a:t>任意 framework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Noto Sans CJK SC"/>
                        </a:rPr>
                        <a:t>LangChain ≠ MCP ≠ App Intent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Noto Sans CJK SC"/>
                        </a:rPr>
                        <a:t>一份定义,多 framework consumer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035040"/>
            <a:ext cx="11277295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7280"/>
                </a:solidFill>
                <a:latin typeface="Noto Sans CJK SC"/>
              </a:rPr>
              <a:t>三个读者: 协议实现者 / 内部贡献者 / 决策者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02 · ATD 架构深度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3 /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§2 统一 schema — 唯一真实源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78308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1">
                <a:solidFill>
                  <a:srgbClr val="6B7280"/>
                </a:solidFill>
                <a:latin typeface="Noto Sans CJK SC"/>
              </a:rPr>
              <a:t>每个 wire 上的消息,每个方向,每个 transport(UDS / HTTP),都序列化为 /atd-protocol-schema.json 定义的 shape。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11277295" cy="3931920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A1A1A"/>
                </a:solidFill>
                <a:latin typeface="Noto Sans CJK SC"/>
              </a:rPr>
              <a:t>•  Schema 从 atd-protocol Rust type 通过 schemars 生成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A1A1A"/>
                </a:solidFill>
                <a:latin typeface="Noto Sans CJK SC"/>
              </a:rPr>
              <a:t>•  JSON Schema 2020-12 meta-schema 校验,CI gate drift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A1A1A"/>
                </a:solidFill>
                <a:latin typeface="Noto Sans CJK SC"/>
              </a:rPr>
              <a:t>•  覆盖: Envelope / Handshake / Discovery / Invocation / ToolDefinition 全字段 / 错误 taxonomy / 分页 / capability 协商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A1A1A"/>
                </a:solidFill>
                <a:latin typeface="Noto Sans CJK SC"/>
              </a:rPr>
              <a:t>•  跨语言 SDK 自动 type-compatible (Rust / Python / 未来 TS / Go / Swift)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A1A1A"/>
                </a:solidFill>
                <a:latin typeface="Noto Sans CJK SC"/>
              </a:rPr>
              <a:t>•  跨 transport parity: UDS 与 HTTP 共用同 dispatch_request entry point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A1A1A"/>
                </a:solidFill>
                <a:latin typeface="Noto Sans CJK SC"/>
              </a:rPr>
              <a:t>•  1.0 schema 冻结为 1.x 稳定面: additive minor, breaking major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02 · ATD 架构深度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4 /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Sanitization — tool id 跨 LLM 函数名 slot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783080"/>
            <a:ext cx="11277295" cy="1371600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10911535" cy="10972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 i="0">
                <a:solidFill>
                  <a:srgbClr val="1A1A1A"/>
                </a:solidFill>
                <a:latin typeface="Noto Sans CJK SC"/>
              </a:rPr>
              <a:t>tool id 含 ':' 和 '.' (如 ref:fs.read) → 破 LLM / MCP 函数名 slot
atd-sdk::sanitize 规范化双向映射: ref:fs.read ↔ ref_fs_read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74720"/>
            <a:ext cx="11277295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6B7280"/>
                </a:solidFill>
                <a:latin typeface="Noto Sans CJK SC"/>
              </a:rPr>
              <a:t>两种形式同时出现在协议流量中 ——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23360"/>
            <a:ext cx="11277295" cy="2377440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A1A1A"/>
                </a:solidFill>
                <a:latin typeface="Noto Sans CJK SC"/>
              </a:rPr>
              <a:t>•  canonical (ref:fs.read) — wire 上的形式,server / SDK / audit log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A1A1A"/>
                </a:solidFill>
                <a:latin typeface="Noto Sans CJK SC"/>
              </a:rPr>
              <a:t>•  sanitised (ref_fs_read) — LLM tool-calling shape 内,OpenAI / Anthropic function 名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A1A1A"/>
                </a:solidFill>
                <a:latin typeface="Noto Sans CJK SC"/>
              </a:rPr>
              <a:t>•  MCP bridge 应用同 sanitize 规则,tool id 不论落哪 slot 都明确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02 · ATD 架构深度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5 /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§3 5 层 + 3 核心 + 2 扩展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691640"/>
            <a:ext cx="11277295" cy="4572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10911535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A1A1A"/>
                </a:solidFill>
                <a:latin typeface="Noto Sans CJK SC"/>
              </a:rPr>
              <a:t>User intent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67712"/>
            <a:ext cx="11277295" cy="4572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080" y="2267712"/>
            <a:ext cx="10911535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Noto Sans CJK SC"/>
              </a:rPr>
              <a:t>Agent framework (Claude / Hermes / LangChain / 自研)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43784"/>
            <a:ext cx="11277295" cy="457200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0080" y="2843784"/>
            <a:ext cx="10911535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Noto Sans CJK SC"/>
              </a:rPr>
              <a:t>Skills layer (adjacent)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19856"/>
            <a:ext cx="11277295" cy="4572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0080" y="3419856"/>
            <a:ext cx="10911535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Noto Sans CJK SC"/>
              </a:rPr>
              <a:t>Client SDK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995928"/>
            <a:ext cx="11277295" cy="457200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40080" y="3995928"/>
            <a:ext cx="10911535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Noto Sans CJK SC"/>
              </a:rPr>
              <a:t>Dispatch (capability · tier · binding · cursor · middleware)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572000"/>
            <a:ext cx="11277295" cy="4572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0080" y="4572000"/>
            <a:ext cx="10911535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Noto Sans CJK SC"/>
              </a:rPr>
              <a:t>Listener (UDS / HTTP+MCP)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148072"/>
            <a:ext cx="11277295" cy="4572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0080" y="5148072"/>
            <a:ext cx="10911535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A1A1A"/>
                </a:solidFill>
                <a:latin typeface="Noto Sans CJK SC"/>
              </a:rPr>
              <a:t>Tool universe (bindings + 扩展点)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852160"/>
            <a:ext cx="11277295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7280"/>
                </a:solidFill>
                <a:latin typeface="Noto Sans CJK SC"/>
              </a:rPr>
              <a:t>3 core (Schema / Dispatch / Security) + 2 extension (Bindings / Middleware)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02 · ATD 架构深度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6 /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§4.1 Wire — 6 个 request 变体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783080"/>
          <a:ext cx="11277294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1004"/>
                <a:gridCol w="8796290"/>
              </a:tblGrid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FFFFFF"/>
                          </a:solidFill>
                          <a:latin typeface="Noto Sans CJK SC"/>
                        </a:rPr>
                        <a:t>变体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FFFFFF"/>
                          </a:solidFill>
                          <a:latin typeface="Noto Sans CJK SC"/>
                        </a:rPr>
                        <a:t>用途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1A1A1A"/>
                          </a:solidFill>
                          <a:latin typeface="Noto Sans CJK SC"/>
                        </a:rPr>
                        <a:t>Hello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1A1A"/>
                          </a:solidFill>
                          <a:latin typeface="Noto Sans CJK SC"/>
                        </a:rPr>
                        <a:t>握手 · client_id / requested_capabilities / 可选 ucan_tokens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1A1A1A"/>
                          </a:solidFill>
                          <a:latin typeface="Noto Sans CJK SC"/>
                        </a:rPr>
                        <a:t>Ping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1A1A"/>
                          </a:solidFill>
                          <a:latin typeface="Noto Sans CJK SC"/>
                        </a:rPr>
                        <a:t>心跳 · 服务器回 Pong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1A1A1A"/>
                          </a:solidFill>
                          <a:latin typeface="Noto Sans CJK SC"/>
                        </a:rPr>
                        <a:t>ToolList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1A1A"/>
                          </a:solidFill>
                          <a:latin typeface="Noto Sans CJK SC"/>
                        </a:rPr>
                        <a:t>Discovery · 返回 Vec&lt;ToolSummary&gt;, 按 DiscoverFilter 过滤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1A1A1A"/>
                          </a:solidFill>
                          <a:latin typeface="Noto Sans CJK SC"/>
                        </a:rPr>
                        <a:t>ToolSchema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1A1A"/>
                          </a:solidFill>
                          <a:latin typeface="Noto Sans CJK SC"/>
                        </a:rPr>
                        <a:t>单工具深 describe · 返回完整 ToolDefinition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1A1A1A"/>
                          </a:solidFill>
                          <a:latin typeface="Noto Sans CJK SC"/>
                        </a:rPr>
                        <a:t>RunTool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1A1A"/>
                          </a:solidFill>
                          <a:latin typeface="Noto Sans CJK SC"/>
                        </a:rPr>
                        <a:t>调用 · tool_id / args / CallOptions → ToolResultResponse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1A1A1A"/>
                          </a:solidFill>
                          <a:latin typeface="Noto Sans CJK SC"/>
                        </a:rPr>
                        <a:t>RunToolContinue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1A1A"/>
                          </a:solidFill>
                          <a:latin typeface="Noto Sans CJK SC"/>
                        </a:rPr>
                        <a:t>分页续传 · 带 opaque cursor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126480"/>
            <a:ext cx="11277295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7280"/>
                </a:solidFill>
                <a:latin typeface="Noto Sans CJK SC"/>
              </a:rPr>
              <a:t>Wire = length-prefixed JSON over duplex byte stream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02 · ATD 架构深度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7 /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§4.2 ToolDefinition — 工具完整声明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691640"/>
            <a:ext cx="11277295" cy="493776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>
              <a:lnSpc>
                <a:spcPct val="120000"/>
              </a:lnSpc>
            </a:pPr>
            <a:r>
              <a:rPr sz="1300" b="0" i="0">
                <a:solidFill>
                  <a:srgbClr val="E5E7EB"/>
                </a:solidFill>
                <a:latin typeface="Noto Sans Mono CJK SC"/>
              </a:rPr>
              <a:t>pub struct ToolDefinition {</a:t>
            </a:r>
          </a:p>
          <a:p>
            <a:pPr>
              <a:lnSpc>
                <a:spcPct val="120000"/>
              </a:lnSpc>
            </a:pPr>
            <a:r>
              <a:rPr sz="1300" b="0" i="0">
                <a:solidFill>
                  <a:srgbClr val="E5E7EB"/>
                </a:solidFill>
                <a:latin typeface="Noto Sans Mono CJK SC"/>
              </a:rPr>
              <a:t>    pub id: String,                       // "ref:fs.read"</a:t>
            </a:r>
          </a:p>
          <a:p>
            <a:pPr>
              <a:lnSpc>
                <a:spcPct val="120000"/>
              </a:lnSpc>
            </a:pPr>
            <a:r>
              <a:rPr sz="1300" b="0" i="0">
                <a:solidFill>
                  <a:srgbClr val="E5E7EB"/>
                </a:solidFill>
                <a:latin typeface="Noto Sans Mono CJK SC"/>
              </a:rPr>
              <a:t>    pub name: String,</a:t>
            </a:r>
          </a:p>
          <a:p>
            <a:pPr>
              <a:lnSpc>
                <a:spcPct val="120000"/>
              </a:lnSpc>
            </a:pPr>
            <a:r>
              <a:rPr sz="1300" b="0" i="0">
                <a:solidFill>
                  <a:srgbClr val="E5E7EB"/>
                </a:solidFill>
                <a:latin typeface="Noto Sans Mono CJK SC"/>
              </a:rPr>
              <a:t>    pub description: String,</a:t>
            </a:r>
          </a:p>
          <a:p>
            <a:pPr>
              <a:lnSpc>
                <a:spcPct val="120000"/>
              </a:lnSpc>
            </a:pPr>
            <a:r>
              <a:rPr sz="1300" b="0" i="0">
                <a:solidFill>
                  <a:srgbClr val="E5E7EB"/>
                </a:solidFill>
                <a:latin typeface="Noto Sans Mono CJK SC"/>
              </a:rPr>
              <a:t>    pub version: String,</a:t>
            </a:r>
          </a:p>
          <a:p>
            <a:pPr>
              <a:lnSpc>
                <a:spcPct val="120000"/>
              </a:lnSpc>
            </a:pPr>
            <a:r>
              <a:rPr sz="1300" b="0" i="0">
                <a:solidFill>
                  <a:srgbClr val="E5E7EB"/>
                </a:solidFill>
                <a:latin typeface="Noto Sans Mono CJK SC"/>
              </a:rPr>
              <a:t>    pub capability: ToolCapability,       // domain · actions · intent_examples</a:t>
            </a:r>
          </a:p>
          <a:p>
            <a:pPr>
              <a:lnSpc>
                <a:spcPct val="120000"/>
              </a:lnSpc>
            </a:pPr>
            <a:r>
              <a:rPr sz="1300" b="0" i="0">
                <a:solidFill>
                  <a:srgbClr val="E5E7EB"/>
                </a:solidFill>
                <a:latin typeface="Noto Sans Mono CJK SC"/>
              </a:rPr>
              <a:t>    pub input_schema: serde_json::Value,  // JSON Schema 2020-12</a:t>
            </a:r>
          </a:p>
          <a:p>
            <a:pPr>
              <a:lnSpc>
                <a:spcPct val="120000"/>
              </a:lnSpc>
            </a:pPr>
            <a:r>
              <a:rPr sz="1300" b="0" i="0">
                <a:solidFill>
                  <a:srgbClr val="E5E7EB"/>
                </a:solidFill>
                <a:latin typeface="Noto Sans Mono CJK SC"/>
              </a:rPr>
              <a:t>    pub output_schema: serde_json::Value,</a:t>
            </a:r>
          </a:p>
          <a:p>
            <a:pPr>
              <a:lnSpc>
                <a:spcPct val="120000"/>
              </a:lnSpc>
            </a:pPr>
            <a:r>
              <a:rPr sz="1300" b="0" i="0">
                <a:solidFill>
                  <a:srgbClr val="E5E7EB"/>
                </a:solidFill>
                <a:latin typeface="Noto Sans Mono CJK SC"/>
              </a:rPr>
              <a:t>    pub bindings: Vec&lt;ToolBinding&gt;,       // Native / Cli / future</a:t>
            </a:r>
          </a:p>
          <a:p>
            <a:pPr>
              <a:lnSpc>
                <a:spcPct val="120000"/>
              </a:lnSpc>
            </a:pPr>
            <a:r>
              <a:rPr sz="1300" b="0" i="0">
                <a:solidFill>
                  <a:srgbClr val="E5E7EB"/>
                </a:solidFill>
                <a:latin typeface="Noto Sans Mono CJK SC"/>
              </a:rPr>
              <a:t>    pub safety: ToolSafety,               // Read/Write/Financial/Privacy/...</a:t>
            </a:r>
          </a:p>
          <a:p>
            <a:pPr>
              <a:lnSpc>
                <a:spcPct val="120000"/>
              </a:lnSpc>
            </a:pPr>
            <a:r>
              <a:rPr sz="1300" b="0" i="0">
                <a:solidFill>
                  <a:srgbClr val="E5E7EB"/>
                </a:solidFill>
                <a:latin typeface="Noto Sans Mono CJK SC"/>
              </a:rPr>
              <a:t>    pub resources: ToolResources,         // timeout_ms · max_concurrent</a:t>
            </a:r>
          </a:p>
          <a:p>
            <a:pPr>
              <a:lnSpc>
                <a:spcPct val="120000"/>
              </a:lnSpc>
            </a:pPr>
            <a:r>
              <a:rPr sz="1300" b="0" i="0">
                <a:solidFill>
                  <a:srgbClr val="E5E7EB"/>
                </a:solidFill>
                <a:latin typeface="Noto Sans Mono CJK SC"/>
              </a:rPr>
              <a:t>    pub trust: ToolTrust,                 // L0-L4 · signature</a:t>
            </a:r>
          </a:p>
          <a:p>
            <a:pPr>
              <a:lnSpc>
                <a:spcPct val="120000"/>
              </a:lnSpc>
            </a:pPr>
            <a:r>
              <a:rPr sz="1300" b="0" i="0">
                <a:solidFill>
                  <a:srgbClr val="E5E7EB"/>
                </a:solidFill>
                <a:latin typeface="Noto Sans Mono CJK SC"/>
              </a:rPr>
              <a:t>    pub visibility: ToolVisibility,       // Read/Write/Dangerous/Hidden</a:t>
            </a:r>
          </a:p>
          <a:p>
            <a:pPr>
              <a:lnSpc>
                <a:spcPct val="120000"/>
              </a:lnSpc>
            </a:pPr>
            <a:r>
              <a:rPr sz="1300" b="0" i="0">
                <a:solidFill>
                  <a:srgbClr val="E5E7EB"/>
                </a:solidFill>
                <a:latin typeface="Noto Sans Mono CJK SC"/>
              </a:rPr>
              <a:t>    pub required_capabilities: Vec&lt;String&gt;,</a:t>
            </a:r>
          </a:p>
          <a:p>
            <a:pPr>
              <a:lnSpc>
                <a:spcPct val="120000"/>
              </a:lnSpc>
            </a:pPr>
            <a:r>
              <a:rPr sz="1300" b="0" i="0">
                <a:solidFill>
                  <a:srgbClr val="E5E7EB"/>
                </a:solidFill>
                <a:latin typeface="Noto Sans Mono CJK SC"/>
              </a:rPr>
              <a:t>    pub tier: Option&lt;ToolTier&gt;,           // Hot / Warm / Cold</a:t>
            </a:r>
          </a:p>
          <a:p>
            <a:pPr>
              <a:lnSpc>
                <a:spcPct val="120000"/>
              </a:lnSpc>
            </a:pPr>
            <a:r>
              <a:rPr sz="1300" b="0" i="0">
                <a:solidFill>
                  <a:srgbClr val="E5E7EB"/>
                </a:solidFill>
                <a:latin typeface="Noto Sans Mono CJK SC"/>
              </a:rPr>
              <a:t>    pub errors: Vec&lt;ToolErrorDef&gt;,</a:t>
            </a:r>
          </a:p>
          <a:p>
            <a:pPr>
              <a:lnSpc>
                <a:spcPct val="120000"/>
              </a:lnSpc>
            </a:pPr>
            <a:r>
              <a:rPr sz="1300" b="0" i="0">
                <a:solidFill>
                  <a:srgbClr val="E5E7EB"/>
                </a:solidFill>
                <a:latin typeface="Noto Sans Mono CJK SC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02 · ATD 架构深度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8 /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§4.3 Error taxonomy — 两层隔开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783080"/>
            <a:ext cx="11277295" cy="18288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A1A1A"/>
                </a:solidFill>
                <a:latin typeface="Noto Sans CJK SC"/>
              </a:rPr>
              <a:t>AtdError = client 侧 Rust enum (ToolNotFound / InvalidArguments / CapabilityDenied / BindingUnavailable / ...) — 无 numeric code
数字 wire code = ERR_* u16 常量在 atd_protocol::messages — 落在 Response::Error.code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931920"/>
          <a:ext cx="11277294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8457971"/>
              </a:tblGrid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Noto Sans CJK SC"/>
                        </a:rPr>
                        <a:t>Code 范围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Noto Sans CJK SC"/>
                        </a:rPr>
                        <a:t>用途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Noto Sans CJK SC"/>
                        </a:rPr>
                        <a:t>1000-1099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Noto Sans CJK SC"/>
                        </a:rPr>
                        <a:t>协议级 (atd-protocol::messages)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Noto Sans CJK SC"/>
                        </a:rPr>
                        <a:t>1010-1013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Noto Sans CJK SC"/>
                        </a:rPr>
                        <a:t>UCAN (invalid / expired / too-deep / aud-mismatch)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Noto Sans CJK SC"/>
                        </a:rPr>
                        <a:t>1020-1021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Noto Sans CJK SC"/>
                        </a:rPr>
                        <a:t>Cursor (expired / invalid)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Noto Sans CJK SC"/>
                        </a:rPr>
                        <a:t>2000+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Noto Sans CJK SC"/>
                        </a:rPr>
                        <a:t>Adopter 区段 (cbrain 2000+ / healthkit 3000+ / celia 4000+)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02 · ATD 架构深度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9 /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§4.4 Cursor 分页 — stateless HMAC 签名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783080"/>
            <a:ext cx="11277295" cy="4754880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A1A1A"/>
                </a:solidFill>
                <a:latin typeface="Noto Sans CJK SC"/>
              </a:rPr>
              <a:t>•  next_cursor: String — opaque, HMAC-SHA256 over CBOR payload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A1A1A"/>
                </a:solidFill>
                <a:latin typeface="Noto Sans CJK SC"/>
              </a:rPr>
              <a:t>•  CursorPayload 绑定 (tool_id, caller_id, args_fingerprint, page_index, issued_at_unix, server_session)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A1A1A"/>
                </a:solidFill>
                <a:latin typeface="Noto Sans CJK SC"/>
              </a:rPr>
              <a:t>•  默认 TTL 5 分钟; wire cap 512 byte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A1A1A"/>
                </a:solidFill>
                <a:latin typeface="Noto Sans CJK SC"/>
              </a:rPr>
              <a:t>•  不能跨 caller 重放 (caller_id 在签名内)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A1A1A"/>
                </a:solidFill>
                <a:latin typeface="Noto Sans CJK SC"/>
              </a:rPr>
              <a:t>•  不能针对篡改 args 重放 (args_fingerprint 在签名内)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A1A1A"/>
                </a:solidFill>
                <a:latin typeface="Noto Sans CJK SC"/>
              </a:rPr>
              <a:t>•  server 重启后 server_session 变 → 旧 cursor 失效 (1020 ERR_CURSOR_EXPIRED)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A1A1A"/>
                </a:solidFill>
                <a:latin typeface="Noto Sans CJK SC"/>
              </a:rPr>
              <a:t>•  SDK call_all 自动走 chain · MergePolicy: ConcatArray / ConcatField / FirstPageOnly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A1A1A"/>
                </a:solidFill>
                <a:latin typeface="Noto Sans CJK SC"/>
              </a:rPr>
              <a:t>•  工具 opt-in: 覆盖 Tool::supports_pagination + Tool::call_paginated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02 · ATD 架构深度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10 /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§5 Dispatch pipeline — 确定 8 步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783080"/>
            <a:ext cx="11094415" cy="4572000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A1A1A"/>
                </a:solidFill>
                <a:latin typeface="Noto Sans CJK SC"/>
              </a:rPr>
              <a:t>1. accept connection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A1A1A"/>
                </a:solidFill>
                <a:latin typeface="Noto Sans CJK SC"/>
              </a:rPr>
              <a:t>2. Hello 握手 (capability gate · 可选 UCAN verify)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A1A1A"/>
                </a:solidFill>
                <a:latin typeface="Noto Sans CJK SC"/>
              </a:rPr>
              <a:t>3. receive RunTool / RunToolContinue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A1A1A"/>
                </a:solidFill>
                <a:latin typeface="Noto Sans CJK SC"/>
              </a:rPr>
              <a:t>4. registry.get(tool_id)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A1A1A"/>
                </a:solidFill>
                <a:latin typeface="Noto Sans CJK SC"/>
              </a:rPr>
              <a:t>5. capability check (refuse if required ⊄ granted → 1001)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A1A1A"/>
                </a:solidFill>
                <a:latin typeface="Noto Sans CJK SC"/>
              </a:rPr>
              <a:t>6. tier-aware deadline + max_output_bytes 解析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A1A1A"/>
                </a:solidFill>
                <a:latin typeface="Noto Sans CJK SC"/>
              </a:rPr>
              <a:t>7. TokenBroker::resolve(caller_id) → CallContext::secrets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A1A1A"/>
                </a:solidFill>
                <a:latin typeface="Noto Sans CJK SC"/>
              </a:rPr>
              <a:t>8. binding.invoke(args, &amp;ctx) [或 call_paginated when cursor]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A1A1A"/>
                </a:solidFill>
                <a:latin typeface="Noto Sans CJK SC"/>
              </a:rPr>
              <a:t>9. middleware pipeline (RedactPaths / FHIR / PII / ...)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A1A1A"/>
                </a:solidFill>
                <a:latin typeface="Noto Sans CJK SC"/>
              </a:rPr>
              <a:t>10. serialize ToolResultResponse + 可选 next_cursor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77295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7280"/>
                </a:solidFill>
                <a:latin typeface="Noto Sans CJK SC"/>
              </a:rPr>
              <a:t>UDS 和 HTTP listener 共用同 atd_runtime::dispatch::dispatch_request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02 · ATD 架构深度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11 /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§5.1 Core SDK API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783080"/>
          <a:ext cx="11277294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8821"/>
                <a:gridCol w="3383188"/>
                <a:gridCol w="6315285"/>
              </a:tblGrid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SC"/>
                        </a:rPr>
                        <a:t>API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SC"/>
                        </a:rPr>
                        <a:t>用途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SC"/>
                        </a:rPr>
                        <a:t>SDK 形式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Noto Sans CJK SC"/>
                        </a:rPr>
                        <a:t>discover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枚举可见工具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AtdClient::discover(filter) -&gt; Vec&lt;ToolSummary&gt;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Noto Sans CJK SC"/>
                        </a:rPr>
                        <a:t>describe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取完整 ToolDefinition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AtdClient::describe(tool_id) -&gt; ToolDefinition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Noto Sans CJK SC"/>
                        </a:rPr>
                        <a:t>call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调用单 result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AtdClient::call(tool_id, args, opts) -&gt; ToolResult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Noto Sans CJK SC"/>
                        </a:rPr>
                        <a:t>call_page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单页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AtdClient::call_page(id, args, Option&lt;&amp;cursor&gt;, opts)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Noto Sans CJK SC"/>
                        </a:rPr>
                        <a:t>call_all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自动走 cursor chain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AtdClient::call_all(id, args, CallAllOptions)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Noto Sans CJK SC"/>
                        </a:rPr>
                        <a:t>ping / hello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心跳 / 协商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AtdClient::ping() / hello(client_id, caps)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080760"/>
            <a:ext cx="11277295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7280"/>
                </a:solidFill>
                <a:latin typeface="Noto Sans CJK SC"/>
              </a:rPr>
              <a:t>Python SDK at python/src/atd_client/ 镜像同 API (sync + async)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02 · ATD 架构深度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12 /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§5.2 Capability gate — 两机制组合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645920"/>
            <a:ext cx="5410047" cy="484632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324447" y="1645920"/>
            <a:ext cx="5410047" cy="484632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044287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F3A5F"/>
                </a:solidFill>
                <a:latin typeface="Noto Sans CJK SC"/>
              </a:rPr>
              <a:t>操作员 allow-list (字符串)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7327" y="1783080"/>
            <a:ext cx="5044287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F3A5F"/>
                </a:solidFill>
                <a:latin typeface="Noto Sans CJK SC"/>
              </a:rPr>
              <a:t>UCAN-lite token (additive)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31720"/>
            <a:ext cx="5044287" cy="3977640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A1A1A"/>
                </a:solidFill>
                <a:latin typeface="Noto Sans CJK SC"/>
              </a:rPr>
              <a:t>•  server 启动声明 --grant-capability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A1A1A"/>
                </a:solidFill>
                <a:latin typeface="Noto Sans CJK SC"/>
              </a:rPr>
              <a:t>•  client Hello.requested_capabilities 求交集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A1A1A"/>
                </a:solidFill>
                <a:latin typeface="Noto Sans CJK SC"/>
              </a:rPr>
              <a:t>•  未 offer 的请求 silently dropped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A1A1A"/>
                </a:solidFill>
                <a:latin typeface="Noto Sans CJK SC"/>
              </a:rPr>
              <a:t>•  未请求的 offer 不 granted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A1A1A"/>
                </a:solidFill>
                <a:latin typeface="Noto Sans CJK SC"/>
              </a:rPr>
              <a:t>•  工具 required ⊄ granted → 1001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7327" y="2331720"/>
            <a:ext cx="5044287" cy="3977640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A1A1A"/>
                </a:solidFill>
                <a:latin typeface="Noto Sans CJK SC"/>
              </a:rPr>
              <a:t>•  Hello.ucan_tokens: Vec&lt;String&gt; (JWT compact)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A1A1A"/>
                </a:solidFill>
                <a:latin typeface="Noto Sans CJK SC"/>
              </a:rPr>
              <a:t>•  UCAN verifier 走 attenuation chain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A1A1A"/>
                </a:solidFill>
                <a:latin typeface="Noto Sans CJK SC"/>
              </a:rPr>
              <a:t>•  did:key + Ed25519 only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A1A1A"/>
                </a:solidFill>
                <a:latin typeface="Noto Sans CJK SC"/>
              </a:rPr>
              <a:t>•  granted = strings ∪ ucan_caps (联合不交集)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A1A1A"/>
                </a:solidFill>
                <a:latin typeface="Noto Sans CJK SC"/>
              </a:rPr>
              <a:t>•  UcanRevocationStore trait + 默认 5 链深度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02 · ATD 架构深度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13 /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§5.3 Tier-aware deadline — latency / cost class 信号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783080"/>
          <a:ext cx="11277294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594"/>
                <a:gridCol w="2819323"/>
                <a:gridCol w="6766377"/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FFFFFF"/>
                          </a:solidFill>
                          <a:latin typeface="Noto Sans CJK SC"/>
                        </a:rPr>
                        <a:t>Tier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FFFFFF"/>
                          </a:solidFill>
                          <a:latin typeface="Noto Sans CJK SC"/>
                        </a:rPr>
                        <a:t>默认 deadline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FFFFFF"/>
                          </a:solidFill>
                          <a:latin typeface="Noto Sans CJK SC"/>
                        </a:rPr>
                        <a:t>典型用途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1A1A1A"/>
                          </a:solidFill>
                          <a:latin typeface="Noto Sans CJK SC"/>
                        </a:rPr>
                        <a:t>Hot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1A1A"/>
                          </a:solidFill>
                          <a:latin typeface="Noto Sans CJK SC"/>
                        </a:rPr>
                        <a:t>sub-second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1A1A"/>
                          </a:solidFill>
                          <a:latin typeface="Noto Sans CJK SC"/>
                        </a:rPr>
                        <a:t>同步无 side-effect 查询 (time, env)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1A1A1A"/>
                          </a:solidFill>
                          <a:latin typeface="Noto Sans CJK SC"/>
                        </a:rPr>
                        <a:t>Warm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1A1A"/>
                          </a:solidFill>
                          <a:latin typeface="Noto Sans CJK SC"/>
                        </a:rPr>
                        <a:t>seconds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1A1A"/>
                          </a:solidFill>
                          <a:latin typeface="Noto Sans CJK SC"/>
                        </a:rPr>
                        <a:t>大多数工具 (file IO, shell, web fetch)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1A1A1A"/>
                          </a:solidFill>
                          <a:latin typeface="Noto Sans CJK SC"/>
                        </a:rPr>
                        <a:t>Cold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1A1A"/>
                          </a:solidFill>
                          <a:latin typeface="Noto Sans CJK SC"/>
                        </a:rPr>
                        <a:t>minutes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1A1A"/>
                          </a:solidFill>
                          <a:latin typeface="Noto Sans CJK SC"/>
                        </a:rPr>
                        <a:t>慢导入 / 大导出 / 模型推理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4754880"/>
            <a:ext cx="11277295" cy="1645920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" y="4937760"/>
            <a:ext cx="10911535" cy="1371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1F3A5F"/>
                </a:solidFill>
                <a:latin typeface="Noto Sans CJK SC"/>
              </a:rPr>
              <a:t>Cursor-paginated 工具的 tier deadline per-page —— Cold 工具可在长 wall-time 上流式输出而不违反 page 级 SLO
Per-call override: CallOptions::deadline_ms
Per-server override: --tier-override CLI flag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02 · ATD 架构深度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14 /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§5.4 Bindings — 开放扩展点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783080"/>
          <a:ext cx="11277294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1004"/>
                <a:gridCol w="8796290"/>
              </a:tblGrid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FFFFFF"/>
                          </a:solidFill>
                          <a:latin typeface="Noto Sans CJK SC"/>
                        </a:rPr>
                        <a:t>Binding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FFFFFF"/>
                          </a:solidFill>
                          <a:latin typeface="Noto Sans CJK SC"/>
                        </a:rPr>
                        <a:t>行为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1A1A1A"/>
                          </a:solidFill>
                          <a:latin typeface="Noto Sans CJK SC"/>
                        </a:rPr>
                        <a:t>NativeBinding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1A1A"/>
                          </a:solidFill>
                          <a:latin typeface="Noto Sans CJK SC"/>
                        </a:rPr>
                        <a:t>委托给同 Rust 进程的 Tool impl (每个内置工具默认)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1A1A1A"/>
                          </a:solidFill>
                          <a:latin typeface="Noto Sans CJK SC"/>
                        </a:rPr>
                        <a:t>CliBinding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1A1A"/>
                          </a:solidFill>
                          <a:latin typeface="Noto Sans CJK SC"/>
                        </a:rPr>
                        <a:t>派生子进程 · JSON args → argv · honor ctx.deadline 配 SIGTERM-then-SIGKILL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4846320"/>
            <a:ext cx="11277295" cy="1554480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" y="5029200"/>
            <a:ext cx="10911535" cy="12801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1F3A5F"/>
                </a:solidFill>
                <a:latin typeface="Noto Sans CJK SC"/>
              </a:rPr>
              <a:t>Binding trait 开放: GrpcBinding / WasmBinding / McpBinding 都可实现同 Binding::invoke 签名。
v1 总路由到 ToolBinding 第一个; preferred_binding 是后续 dispatcher 小升级。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02 · ATD 架构深度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15 /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§5.5 TokenBroker — multi-tenant secret routing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691640"/>
            <a:ext cx="11277295" cy="18288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>
              <a:lnSpc>
                <a:spcPct val="120000"/>
              </a:lnSpc>
            </a:pPr>
            <a:r>
              <a:rPr sz="1300" b="0" i="0">
                <a:solidFill>
                  <a:srgbClr val="E5E7EB"/>
                </a:solidFill>
                <a:latin typeface="Noto Sans Mono CJK SC"/>
              </a:rPr>
              <a:t>pub trait TokenBroker: Send + Sync {</a:t>
            </a:r>
          </a:p>
          <a:p>
            <a:pPr>
              <a:lnSpc>
                <a:spcPct val="120000"/>
              </a:lnSpc>
            </a:pPr>
            <a:r>
              <a:rPr sz="1300" b="0" i="0">
                <a:solidFill>
                  <a:srgbClr val="E5E7EB"/>
                </a:solidFill>
                <a:latin typeface="Noto Sans Mono CJK SC"/>
              </a:rPr>
              <a:t>    fn resolve(&amp;self, caller_id: Option&lt;&amp;str&gt;) -&gt; ResolveFuture;</a:t>
            </a:r>
          </a:p>
          <a:p>
            <a:pPr>
              <a:lnSpc>
                <a:spcPct val="120000"/>
              </a:lnSpc>
            </a:pPr>
            <a:r>
              <a:rPr sz="1300" b="0" i="0">
                <a:solidFill>
                  <a:srgbClr val="E5E7EB"/>
                </a:solidFill>
                <a:latin typeface="Noto Sans Mono CJK SC"/>
              </a:rPr>
              <a:t>    fn resolve_bearer(&amp;self, bearer: &amp;str) -&gt; ResolveBearerFuture;</a:t>
            </a:r>
          </a:p>
          <a:p>
            <a:pPr>
              <a:lnSpc>
                <a:spcPct val="120000"/>
              </a:lnSpc>
            </a:pPr>
            <a:r>
              <a:rPr sz="1300" b="0" i="0">
                <a:solidFill>
                  <a:srgbClr val="E5E7EB"/>
                </a:solidFill>
                <a:latin typeface="Noto Sans Mono CJK SC"/>
              </a:rPr>
              <a:t>    fn accepted_token_formats(&amp;self) -&gt; &amp;'static [&amp;'static str];</a:t>
            </a:r>
          </a:p>
          <a:p>
            <a:pPr>
              <a:lnSpc>
                <a:spcPct val="120000"/>
              </a:lnSpc>
            </a:pPr>
            <a:r>
              <a:rPr sz="1300" b="0" i="0">
                <a:solidFill>
                  <a:srgbClr val="E5E7EB"/>
                </a:solidFill>
                <a:latin typeface="Noto Sans Mono CJK SC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11277295" cy="2743200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A1A1A"/>
                </a:solidFill>
                <a:latin typeface="Noto Sans CJK SC"/>
              </a:rPr>
              <a:t>•  InMemoryTokenBroker — 单元测试 / 单进程; UCAN-JWT 分支 register_ucan_audience()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A1A1A"/>
                </a:solidFill>
                <a:latin typeface="Noto Sans CJK SC"/>
              </a:rPr>
              <a:t>•  FileTokenBroker — 磁盘后端; per-bearer subdir, 0700/0600; refresh mutex 防 OAuth 双 round-trip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A1A1A"/>
                </a:solidFill>
                <a:latin typeface="Noto Sans CJK SC"/>
              </a:rPr>
              <a:t>•  HTTP bearer auth 走同 trait 的 resolve_bearer 臂 — 11 BearerOutcome 变体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A1A1A"/>
                </a:solidFill>
                <a:latin typeface="Noto Sans CJK SC"/>
              </a:rPr>
              <a:t>•  SecretBundle wrap value 为 RedactedString — Debug/Display 拒打印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A1A1A"/>
                </a:solidFill>
                <a:latin typeface="Noto Sans CJK SC"/>
              </a:rPr>
              <a:t>•  Audit event 只含 secrets_resolved: bool — 永不含 key 名或 value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02 · ATD 架构深度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16 /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§6.1 安全 — 三轴分类 (描述 metadata, 非执行机制)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783080"/>
          <a:ext cx="11277293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594"/>
                <a:gridCol w="6991922"/>
                <a:gridCol w="2593777"/>
              </a:tblGrid>
              <a:tr h="80010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Noto Sans CJK SC"/>
                        </a:rPr>
                        <a:t>分类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Noto Sans CJK SC"/>
                        </a:rPr>
                        <a:t>值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Noto Sans CJK SC"/>
                        </a:rPr>
                        <a:t>字段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Noto Sans CJK SC"/>
                        </a:rPr>
                        <a:t>Safety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Noto Sans CJK SC"/>
                        </a:rPr>
                        <a:t>Read / Write / Financial / Privacy / Physical / Destructive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Noto Sans CJK SC"/>
                        </a:rPr>
                        <a:t>ToolSafety::level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Noto Sans CJK SC"/>
                        </a:rPr>
                        <a:t>Visibility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Noto Sans CJK SC"/>
                        </a:rPr>
                        <a:t>Read / Write / Dangerous / System / Hidden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Noto Sans CJK SC"/>
                        </a:rPr>
                        <a:t>ToolVisibility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Noto Sans CJK SC"/>
                        </a:rPr>
                        <a:t>Trust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Noto Sans CJK SC"/>
                        </a:rPr>
                        <a:t>L0Unverified / L1SchemaValid / L2Tested / L3Verified / L4Certified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Noto Sans CJK SC"/>
                        </a:rPr>
                        <a:t>ToolTrust::trust_level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5120640"/>
            <a:ext cx="11277295" cy="1280160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" y="5257800"/>
            <a:ext cx="10911535" cy="10058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1F3A5F"/>
                </a:solidFill>
                <a:latin typeface="Noto Sans CJK SC"/>
              </a:rPr>
              <a:t>Visibility::Hidden 把工具从 ToolList discovery 排除 但保留 ToolSchema 和 RunTool 可达 — 用于 raw vendor endpoint / debug helper / 集成测试工具。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02 · ATD 架构深度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17 /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§6.3 Per-tool runtime 控制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783080"/>
          <a:ext cx="11277295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10918"/>
                <a:gridCol w="2255459"/>
                <a:gridCol w="4510918"/>
              </a:tblGrid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SC"/>
                        </a:rPr>
                        <a:t>控制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SC"/>
                        </a:rPr>
                        <a:t>适用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SC"/>
                        </a:rPr>
                        <a:t>位置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Noto Sans CJK SC"/>
                        </a:rPr>
                        <a:t>SSRF guard (loopback/RFC1918/link-local/CGN/TEST-NET/0.0.0.0/8/v4-mapped; 重定向每跳重查)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Noto Sans CJK SC"/>
                        </a:rPr>
                        <a:t>ref:web.fetch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Noto Sans CJK SC"/>
                        </a:rPr>
                        <a:t>atd-tools-web/src/fetch.rs::check_ssrf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Noto Sans CJK SC"/>
                        </a:rPr>
                        <a:t>Header allow-list (Accept/Accept-Lang/Referer/UA; Auth+Cookie 拒)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Noto Sans CJK SC"/>
                        </a:rPr>
                        <a:t>ref:web.fetch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Noto Sans CJK SC"/>
                        </a:rPr>
                        <a:t>atd-tools-web/src/fetch.rs::build_headers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Noto Sans CJK SC"/>
                        </a:rPr>
                        <a:t>Must-read-before-edit (mtime+size 证明)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Noto Sans CJK SC"/>
                        </a:rPr>
                        <a:t>ref:fs.edit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Noto Sans CJK SC"/>
                        </a:rPr>
                        <a:t>atd-runtime/src/tracker.rs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Noto Sans CJK SC"/>
                        </a:rPr>
                        <a:t>SIGTERM → grace → SIGKILL subprocess timeout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Noto Sans CJK SC"/>
                        </a:rPr>
                        <a:t>ref:shell.exec / pwsh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Noto Sans CJK SC"/>
                        </a:rPr>
                        <a:t>atd-tools-shell/src/shared.rs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Noto Sans CJK SC"/>
                        </a:rPr>
                        <a:t>Per-tool semaphore (max_concurrent)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Noto Sans CJK SC"/>
                        </a:rPr>
                        <a:t>全部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Noto Sans CJK SC"/>
                        </a:rPr>
                        <a:t>atd-runtime/src/registry.rs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Noto Sans CJK SC"/>
                        </a:rPr>
                        <a:t>Request-arg schema validation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Noto Sans CJK SC"/>
                        </a:rPr>
                        <a:t>全部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Noto Sans CJK SC"/>
                        </a:rPr>
                        <a:t>per-tool call impl + serde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02 · ATD 架构深度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18 /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§6.4 Audit — 结构化 CallEvent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691640"/>
            <a:ext cx="11277295" cy="36576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>
              <a:lnSpc>
                <a:spcPct val="120000"/>
              </a:lnSpc>
            </a:pPr>
            <a:r>
              <a:rPr sz="1300" b="0" i="0">
                <a:solidFill>
                  <a:srgbClr val="E5E7EB"/>
                </a:solidFill>
                <a:latin typeface="Noto Sans Mono CJK SC"/>
              </a:rPr>
              <a:t>pub struct CallEvent {</a:t>
            </a:r>
          </a:p>
          <a:p>
            <a:pPr>
              <a:lnSpc>
                <a:spcPct val="120000"/>
              </a:lnSpc>
            </a:pPr>
            <a:r>
              <a:rPr sz="1300" b="0" i="0">
                <a:solidFill>
                  <a:srgbClr val="E5E7EB"/>
                </a:solidFill>
                <a:latin typeface="Noto Sans Mono CJK SC"/>
              </a:rPr>
              <a:t>    pub ts: String,                  // RFC3339</a:t>
            </a:r>
          </a:p>
          <a:p>
            <a:pPr>
              <a:lnSpc>
                <a:spcPct val="120000"/>
              </a:lnSpc>
            </a:pPr>
            <a:r>
              <a:rPr sz="1300" b="0" i="0">
                <a:solidFill>
                  <a:srgbClr val="E5E7EB"/>
                </a:solidFill>
                <a:latin typeface="Noto Sans Mono CJK SC"/>
              </a:rPr>
              <a:t>    pub call_id: String,</a:t>
            </a:r>
          </a:p>
          <a:p>
            <a:pPr>
              <a:lnSpc>
                <a:spcPct val="120000"/>
              </a:lnSpc>
            </a:pPr>
            <a:r>
              <a:rPr sz="1300" b="0" i="0">
                <a:solidFill>
                  <a:srgbClr val="E5E7EB"/>
                </a:solidFill>
                <a:latin typeface="Noto Sans Mono CJK SC"/>
              </a:rPr>
              <a:t>    pub tool_id: String,</a:t>
            </a:r>
          </a:p>
          <a:p>
            <a:pPr>
              <a:lnSpc>
                <a:spcPct val="120000"/>
              </a:lnSpc>
            </a:pPr>
            <a:r>
              <a:rPr sz="1300" b="0" i="0">
                <a:solidFill>
                  <a:srgbClr val="E5E7EB"/>
                </a:solidFill>
                <a:latin typeface="Noto Sans Mono CJK SC"/>
              </a:rPr>
              <a:t>    pub caller_id: Option&lt;String&gt;,</a:t>
            </a:r>
          </a:p>
          <a:p>
            <a:pPr>
              <a:lnSpc>
                <a:spcPct val="120000"/>
              </a:lnSpc>
            </a:pPr>
            <a:r>
              <a:rPr sz="1300" b="0" i="0">
                <a:solidFill>
                  <a:srgbClr val="E5E7EB"/>
                </a:solidFill>
                <a:latin typeface="Noto Sans Mono CJK SC"/>
              </a:rPr>
              <a:t>    pub granted_capabilities: Vec&lt;String&gt;,</a:t>
            </a:r>
          </a:p>
          <a:p>
            <a:pPr>
              <a:lnSpc>
                <a:spcPct val="120000"/>
              </a:lnSpc>
            </a:pPr>
            <a:r>
              <a:rPr sz="1300" b="0" i="0">
                <a:solidFill>
                  <a:srgbClr val="E5E7EB"/>
                </a:solidFill>
                <a:latin typeface="Noto Sans Mono CJK SC"/>
              </a:rPr>
              <a:t>    pub duration_ms: u64,</a:t>
            </a:r>
          </a:p>
          <a:p>
            <a:pPr>
              <a:lnSpc>
                <a:spcPct val="120000"/>
              </a:lnSpc>
            </a:pPr>
            <a:r>
              <a:rPr sz="1300" b="0" i="0">
                <a:solidFill>
                  <a:srgbClr val="E5E7EB"/>
                </a:solidFill>
                <a:latin typeface="Noto Sans Mono CJK SC"/>
              </a:rPr>
              <a:t>    pub outcome: Outcome,            // Success / ExecutionFailed / ...</a:t>
            </a:r>
          </a:p>
          <a:p>
            <a:pPr>
              <a:lnSpc>
                <a:spcPct val="120000"/>
              </a:lnSpc>
            </a:pPr>
            <a:r>
              <a:rPr sz="1300" b="0" i="0">
                <a:solidFill>
                  <a:srgbClr val="E5E7EB"/>
                </a:solidFill>
                <a:latin typeface="Noto Sans Mono CJK SC"/>
              </a:rPr>
              <a:t>    pub tier: String,</a:t>
            </a:r>
          </a:p>
          <a:p>
            <a:pPr>
              <a:lnSpc>
                <a:spcPct val="120000"/>
              </a:lnSpc>
            </a:pPr>
            <a:r>
              <a:rPr sz="1300" b="0" i="0">
                <a:solidFill>
                  <a:srgbClr val="E5E7EB"/>
                </a:solidFill>
                <a:latin typeface="Noto Sans Mono CJK SC"/>
              </a:rPr>
              <a:t>    pub dry_run: bool,</a:t>
            </a:r>
          </a:p>
          <a:p>
            <a:pPr>
              <a:lnSpc>
                <a:spcPct val="120000"/>
              </a:lnSpc>
            </a:pPr>
            <a:r>
              <a:rPr sz="1300" b="0" i="0">
                <a:solidFill>
                  <a:srgbClr val="E5E7EB"/>
                </a:solidFill>
                <a:latin typeface="Noto Sans Mono CJK SC"/>
              </a:rPr>
              <a:t>    pub schema_version: u32,         // 当前 2</a:t>
            </a:r>
          </a:p>
          <a:p>
            <a:pPr>
              <a:lnSpc>
                <a:spcPct val="120000"/>
              </a:lnSpc>
            </a:pPr>
            <a:r>
              <a:rPr sz="1300" b="0" i="0">
                <a:solidFill>
                  <a:srgbClr val="E5E7EB"/>
                </a:solidFill>
                <a:latin typeface="Noto Sans Mono CJK SC"/>
              </a:rPr>
              <a:t>    pub secrets_resolved: bool,      // 永不含 key 名/value</a:t>
            </a:r>
          </a:p>
          <a:p>
            <a:pPr>
              <a:lnSpc>
                <a:spcPct val="120000"/>
              </a:lnSpc>
            </a:pPr>
            <a:r>
              <a:rPr sz="1300" b="0" i="0">
                <a:solidFill>
                  <a:srgbClr val="E5E7EB"/>
                </a:solidFill>
                <a:latin typeface="Noto Sans Mono CJK SC"/>
              </a:rPr>
              <a:t>    pub cursor_page: Option&lt;u32&gt;,    // 1-based</a:t>
            </a:r>
          </a:p>
          <a:p>
            <a:pPr>
              <a:lnSpc>
                <a:spcPct val="120000"/>
              </a:lnSpc>
            </a:pPr>
            <a:r>
              <a:rPr sz="1300" b="0" i="0">
                <a:solidFill>
                  <a:srgbClr val="E5E7EB"/>
                </a:solidFill>
                <a:latin typeface="Noto Sans Mono CJK SC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532120"/>
            <a:ext cx="11277295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7280"/>
                </a:solidFill>
                <a:latin typeface="Noto Sans CJK SC"/>
              </a:rPr>
              <a:t>JsonLinesAuditSink 用 bounded mpsc + 专用 drain task — on_call non-blocking; drops counter 通过 Server::metrics_snapshot 暴露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02 · ATD 架构深度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19 /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§7 Middleware — 3 个内置 + 开放 trait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783080"/>
          <a:ext cx="11277293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188"/>
                <a:gridCol w="3044869"/>
                <a:gridCol w="4849236"/>
              </a:tblGrid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SC"/>
                        </a:rPr>
                        <a:t>Middleware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SC"/>
                        </a:rPr>
                        <a:t>Crate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SC"/>
                        </a:rPr>
                        <a:t>作用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Noto Sans CJK SC"/>
                        </a:rPr>
                        <a:t>RedactPathsMiddleware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atd-runtime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剥 / mask JSON Pointer 路径 (如 $HOME)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Noto Sans CJK SC"/>
                        </a:rPr>
                        <a:t>FhirMiddleware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atd-middleware-fhir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75-URI 白名单 + 12-resource required field + 3 MismatchPolicy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Noto Sans CJK SC"/>
                        </a:rPr>
                        <a:t>PiiRedactMiddleware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atd-middleware-pii-redact-medical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18 HIPAA × 13 JSON-Pointer × 7 RedactionStrategy + 5 catch-all 正则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5029200"/>
            <a:ext cx="11277295" cy="1371600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" y="5166360"/>
            <a:ext cx="10911535" cy="11430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1">
                <a:solidFill>
                  <a:srgbClr val="1F3A5F"/>
                </a:solidFill>
                <a:latin typeface="Noto Sans CJK SC"/>
              </a:rPr>
              <a:t>I1 不变量: ALLOWED_SYSTEMS_DEFAULT 与 celia whitelists.toml set-equal
vendored toml + 双 CI gate; 任一仓单独改 set 就在两 gate 之一失败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02 · ATD 架构深度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20 /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§6.5 并发与限流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783080"/>
          <a:ext cx="11277294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188"/>
                <a:gridCol w="7894106"/>
              </a:tblGrid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Noto Sans CJK SC"/>
                        </a:rPr>
                        <a:t>机制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Noto Sans CJK SC"/>
                        </a:rPr>
                        <a:t>行为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Noto Sans CJK SC"/>
                        </a:rPr>
                        <a:t>per-tool semaphore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Noto Sans CJK SC"/>
                        </a:rPr>
                        <a:t>max_concurrent 在 Registry 强制 · 拒 RateLimited (1002 retryable)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Noto Sans CJK SC"/>
                        </a:rPr>
                        <a:t>Multi-thread tokio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Noto Sans CJK SC"/>
                        </a:rPr>
                        <a:t>ref binary 默认 multi_thread + min(cpus, 4) worker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Noto Sans CJK SC"/>
                        </a:rPr>
                        <a:t>Per-state frame deadline (UDS)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Noto Sans CJK SC"/>
                        </a:rPr>
                        <a:t>5s 握手 / 30s 活跃 · Server::set_frame_deadlines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Noto Sans CJK SC"/>
                        </a:rPr>
                        <a:t>SDK connect retry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Noto Sans CJK SC"/>
                        </a:rPr>
                        <a:t>指数退避 + ±20% jitter · ATD_CONNECT_RETRIES env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Noto Sans CJK SC"/>
                        </a:rPr>
                        <a:t>Server 侧 rate-limiter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Noto Sans CJK SC"/>
                        </a:rPr>
                        <a:t>v1 不在 · rate_limit_per_min declarative-only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486400"/>
            <a:ext cx="11277295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7280"/>
                </a:solidFill>
                <a:latin typeface="Noto Sans CJK SC"/>
              </a:rPr>
              <a:t>50-client storm: p99=125ms 错=0 audit_drops=0 (vs pre-SP 71s wall + 60% 失败)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02 · ATD 架构深度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21 /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§8 Skills layer (adjacent)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783080"/>
          <a:ext cx="1127729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10918"/>
                <a:gridCol w="6766377"/>
              </a:tblGrid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Noto Sans CJK SC"/>
                        </a:rPr>
                        <a:t>关注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Noto Sans CJK SC"/>
                        </a:rPr>
                        <a:t>拥有者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Noto Sans CJK SC"/>
                        </a:rPr>
                        <a:t>SKILL.md 创作 / 校验 / 安装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Noto Sans CJK SC"/>
                        </a:rPr>
                        <a:t>Skills runtime (Anthropic / OpenClaw / 第三方)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Noto Sans CJK SC"/>
                        </a:rPr>
                        <a:t>渐进披露到 agent context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Noto Sans CJK SC"/>
                        </a:rPr>
                        <a:t>Skills runtime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Noto Sans CJK SC"/>
                        </a:rPr>
                        <a:t>atd-tools: 依赖声明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Noto Sans CJK SC"/>
                        </a:rPr>
                        <a:t>SKILL.md 格式; ATD 贡献是稳定 tool id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Noto Sans CJK SC"/>
                        </a:rPr>
                        <a:t>从 skill body 调 ATD 工具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Noto Sans CJK SC"/>
                        </a:rPr>
                        <a:t>Skills runtime 像任何 agent 调 SDK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Noto Sans CJK SC"/>
                        </a:rPr>
                        <a:t>discover / describe / call API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Noto Sans CJK SC"/>
                        </a:rPr>
                        <a:t>ATD (本仓)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7280"/>
                </a:solidFill>
                <a:latin typeface="Noto Sans CJK SC"/>
              </a:rPr>
              <a:t>ATD 不解析 SKILL.md, 不拥有平台安装路径, 不保留 skill state 跨调用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02 · ATD 架构深度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22 /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§9 17 crate workspace map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91640"/>
          <a:ext cx="11277294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8734"/>
                <a:gridCol w="2029913"/>
                <a:gridCol w="5638647"/>
              </a:tblGrid>
              <a:tr h="352697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SC"/>
                        </a:rPr>
                        <a:t>crate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SC"/>
                        </a:rPr>
                        <a:t>Layer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SC"/>
                        </a:rPr>
                        <a:t>职责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Noto Sans CJK SC"/>
                        </a:rPr>
                        <a:t>atd-protocol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Noto Sans CJK SC"/>
                        </a:rPr>
                        <a:t>Schema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Noto Sans CJK SC"/>
                        </a:rPr>
                        <a:t>wire 格式 + 类型 + sanitize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Noto Sans CJK SC"/>
                        </a:rPr>
                        <a:t>atd-sdk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Noto Sans CJK SC"/>
                        </a:rPr>
                        <a:t>Client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Noto Sans CJK SC"/>
                        </a:rPr>
                        <a:t>Rust 客户端 SDK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Noto Sans CJK SC"/>
                        </a:rPr>
                        <a:t>atd-runtime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Noto Sans CJK SC"/>
                        </a:rPr>
                        <a:t>Server core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Noto Sans CJK SC"/>
                        </a:rPr>
                        <a:t>Tool · Registry · dispatch · Binding · Middleware · CursorIssuer · TokenBroker · UCAN · MetricsCounters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Noto Sans CJK SC"/>
                        </a:rPr>
                        <a:t>atd-server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Noto Sans CJK SC"/>
                        </a:rPr>
                        <a:t>Transport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Noto Sans CJK SC"/>
                        </a:rPr>
                        <a:t>Unix socket listener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Noto Sans CJK SC"/>
                        </a:rPr>
                        <a:t>atd-server-http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Noto Sans CJK SC"/>
                        </a:rPr>
                        <a:t>Transport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Noto Sans CJK SC"/>
                        </a:rPr>
                        <a:t>HTTP + MCP JSON-RPC translator + bearer + SSE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Noto Sans CJK SC"/>
                        </a:rPr>
                        <a:t>atd-middleware-fhir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Noto Sans CJK SC"/>
                        </a:rPr>
                        <a:t>Middleware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Noto Sans CJK SC"/>
                        </a:rPr>
                        <a:t>FHIR R4 egress validation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Noto Sans CJK SC"/>
                        </a:rPr>
                        <a:t>atd-middleware-pii-redact-medical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Noto Sans CJK SC"/>
                        </a:rPr>
                        <a:t>Middleware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Noto Sans CJK SC"/>
                        </a:rPr>
                        <a:t>HIPAA Safe Harbor PHI redaction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Noto Sans CJK SC"/>
                        </a:rPr>
                        <a:t>atd-tools-{echo,fs,shell,web}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Noto Sans CJK SC"/>
                        </a:rPr>
                        <a:t>Tools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Noto Sans CJK SC"/>
                        </a:rPr>
                        <a:t>4 内置工具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Noto Sans CJK SC"/>
                        </a:rPr>
                        <a:t>atd-mcp-bridge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Noto Sans CJK SC"/>
                        </a:rPr>
                        <a:t>Bridge bin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Noto Sans CJK SC"/>
                        </a:rPr>
                        <a:t>MCP/stdio → ATD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Noto Sans CJK SC"/>
                        </a:rPr>
                        <a:t>atd-cli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Noto Sans CJK SC"/>
                        </a:rPr>
                        <a:t>Bin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Noto Sans CJK SC"/>
                        </a:rPr>
                        <a:t>atd 开发者 CLI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Noto Sans CJK SC"/>
                        </a:rPr>
                        <a:t>atd-ref-server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Noto Sans CJK SC"/>
                        </a:rPr>
                        <a:t>Bin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Noto Sans CJK SC"/>
                        </a:rPr>
                        <a:t>参考 server binary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Noto Sans CJK SC"/>
                        </a:rPr>
                        <a:t>atd-conformance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Noto Sans CJK SC"/>
                        </a:rPr>
                        <a:t>Test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Noto Sans CJK SC"/>
                        </a:rPr>
                        <a:t>跨实现 conformance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52699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Noto Sans CJK SC"/>
                        </a:rPr>
                        <a:t>atd-mock-weather-server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Noto Sans CJK SC"/>
                        </a:rPr>
                        <a:t>Bin (publish=false)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Noto Sans CJK SC"/>
                        </a:rPr>
                        <a:t>cross-vendor demo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02 · ATD 架构深度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23 /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§9.3 扩展点 (不 fork ref-server 即可挂接)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783080"/>
          <a:ext cx="11277294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6202512"/>
                <a:gridCol w="2819323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Noto Sans CJK SC"/>
                        </a:rPr>
                        <a:t>想做…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Noto Sans CJK SC"/>
                        </a:rPr>
                        <a:t>表面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Noto Sans CJK SC"/>
                        </a:rPr>
                        <a:t>需 fork?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Noto Sans CJK SC"/>
                        </a:rPr>
                        <a:t>加新工具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Noto Sans CJK SC"/>
                        </a:rPr>
                        <a:t>Tool trait impl + Registry::register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Noto Sans CJK SC"/>
                        </a:rPr>
                        <a:t>否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Noto Sans CJK SC"/>
                        </a:rPr>
                        <a:t>加新 binding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Noto Sans CJK SC"/>
                        </a:rPr>
                        <a:t>Binding trait impl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Noto Sans CJK SC"/>
                        </a:rPr>
                        <a:t>否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Noto Sans CJK SC"/>
                        </a:rPr>
                        <a:t>加新 middleware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Noto Sans CJK SC"/>
                        </a:rPr>
                        <a:t>Middleware trait impl + Server::set_middleware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Noto Sans CJK SC"/>
                        </a:rPr>
                        <a:t>否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Noto Sans CJK SC"/>
                        </a:rPr>
                        <a:t>加新 auth scheme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Noto Sans CJK SC"/>
                        </a:rPr>
                        <a:t>TokenBroker trait impl + ServerConfig::token_broker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Noto Sans CJK SC"/>
                        </a:rPr>
                        <a:t>否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Noto Sans CJK SC"/>
                        </a:rPr>
                        <a:t>加新 audit sink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Noto Sans CJK SC"/>
                        </a:rPr>
                        <a:t>AuditSink trait impl + ServerConfig::audit_sink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Noto Sans CJK SC"/>
                        </a:rPr>
                        <a:t>否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Noto Sans CJK SC"/>
                        </a:rPr>
                        <a:t>加新 transport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Noto Sans CJK SC"/>
                        </a:rPr>
                        <a:t>新 listener call atd_runtime::dispatch::dispatch_request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Noto Sans CJK SC"/>
                        </a:rPr>
                        <a:t>否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Noto Sans CJK SC"/>
                        </a:rPr>
                        <a:t>改 wire 格式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Noto Sans CJK SC"/>
                        </a:rPr>
                        <a:t>—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Noto Sans CJK SC"/>
                        </a:rPr>
                        <a:t>是 (不是扩展点)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02 · ATD 架构深度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24 /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§10 Non-goals (v1 故意不做)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783080"/>
            <a:ext cx="11277295" cy="4754880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6B7280"/>
                </a:solidFill>
                <a:latin typeface="Noto Sans CJK SC"/>
              </a:rPr>
              <a:t>✘  Multi-device routing (每连接 dispatch 到一个 socket)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6B7280"/>
                </a:solidFill>
                <a:latin typeface="Noto Sans CJK SC"/>
              </a:rPr>
              <a:t>✘  Distributed session 迁移 / fork / handoff (scope 到一连接)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6B7280"/>
                </a:solidFill>
                <a:latin typeface="Noto Sans CJK SC"/>
              </a:rPr>
              <a:t>✘  Tool signature verification (declarative; PKI 不规范)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6B7280"/>
                </a:solidFill>
                <a:latin typeface="Noto Sans CJK SC"/>
              </a:rPr>
              <a:t>✘  REST / AppFunction / 分布式 binding (trait 可承载, 不 ship)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6B7280"/>
                </a:solidFill>
                <a:latin typeface="Noto Sans CJK SC"/>
              </a:rPr>
              <a:t>✘  Native Skills-layer 支持 (Skills runtime 自己拥有)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6B7280"/>
                </a:solidFill>
                <a:latin typeface="Noto Sans CJK SC"/>
              </a:rPr>
              <a:t>✘  Per-tool dry-run preview semantics (v1 server-side short-circuit)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6B7280"/>
                </a:solidFill>
                <a:latin typeface="Noto Sans CJK SC"/>
              </a:rPr>
              <a:t>✘  Per-tool rate-limiter 强制 (declarative-only; 等 adopter 需要)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63640"/>
            <a:ext cx="11277295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7280"/>
                </a:solidFill>
                <a:latin typeface="Noto Sans CJK SC"/>
              </a:rPr>
              <a:t>每个 non-goal 都有 rationale · 门槛是具体需求而非愿景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