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6400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Calibri"/>
              </a:rPr>
              <a:t>ATD for HMS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i="1">
                <a:solidFill>
                  <a:srgbClr val="008C8C"/>
                </a:solidFill>
                <a:latin typeface="Calibri"/>
              </a:rPr>
              <a:t>Strategic Briefing + Applied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58B00"/>
                </a:solidFill>
                <a:latin typeface="Microsoft YaHei"/>
              </a:rPr>
              <a:t>为什么 HMS 需要 ATD  +  HMS 如何实装 ATD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Calibri"/>
              </a:rPr>
              <a:t>2026-04-23  ·  Based on ATD v3 Multi-Device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E58B00"/>
                </a:solidFill>
                <a:latin typeface="Calibri"/>
              </a:rPr>
              <a:t>◆ </a:t>
            </a:r>
            <a:r>
              <a:rPr sz="1400">
                <a:solidFill>
                  <a:srgbClr val="FFFFFF"/>
                </a:solidFill>
                <a:latin typeface="Calibri"/>
              </a:rPr>
              <a:t>Audience · HMS BU · HIMA Alliance Partners · HarmonyOS Ecosystem Leads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E58B00"/>
                </a:solidFill>
                <a:latin typeface="Calibri"/>
              </a:rPr>
              <a:t>◆ </a:t>
            </a:r>
            <a:r>
              <a:rPr sz="1400">
                <a:solidFill>
                  <a:srgbClr val="FFFFFF"/>
                </a:solidFill>
                <a:latin typeface="Calibri"/>
              </a:rPr>
              <a:t>Contents · Part 1 Strategy (Why) · Part 2 Applied Design (How) · Part 3 Action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E58B00"/>
                </a:solidFill>
                <a:latin typeface="Calibri"/>
              </a:rPr>
              <a:t>◆ </a:t>
            </a:r>
            <a:r>
              <a:rPr sz="1400">
                <a:solidFill>
                  <a:srgbClr val="FFFFFF"/>
                </a:solidFill>
                <a:latin typeface="Calibri"/>
              </a:rPr>
              <a:t>Status   · 非约束性提议，征求反馈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 /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目录 · 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E0000"/>
                </a:solidFill>
                <a:latin typeface="Microsoft YaHei"/>
              </a:rPr>
              <a:t>Part 1 — WHY 战略层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华为独特优势 × 碎片化挑战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不用 ATD 的 5 种失败场景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v3 四原语对 HMS 的特定价值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HIMA / HarmonyOS Cockpit 契合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时间窗口 2026 Q3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风险与反对意见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008C8C"/>
                </a:solidFill>
                <a:latin typeface="Microsoft YaHei"/>
              </a:rPr>
              <a:t>Part 2 — HOW 应用设计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Flagship Matrix 5 × 3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Kit Inventory × Device Inventory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5 flagship cells 深展开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3 跨设备场景闭环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分阶段实装路线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IAM 映射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E58B00"/>
                </a:solidFill>
                <a:latin typeface="Microsoft YaHei"/>
              </a:rPr>
              <a:t>Part 3 — ACTION 行动请求</a:t>
            </a:r>
          </a:p>
          <a:p>
            <a:pPr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Microsoft YaHei"/>
              </a:rPr>
              <a:t>  Phase 0 试点 / 时间表 / APWG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E0000"/>
                </a:solidFill>
                <a:latin typeface="Microsoft YaHei"/>
              </a:rPr>
              <a:t>Executive Summary  ·  一页结论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HMS Core 是业界唯一覆盖完整 7 类终端（phone / watch / earbuds / tablet / pc / car / tv）的 kit 体系——这是华为的结构性优势，也是独特压力。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640080"/>
          </a:xfrm>
          <a:prstGeom prst="roundRect">
            <a:avLst/>
          </a:prstGeom>
          <a:solidFill>
            <a:srgbClr val="CE0000"/>
          </a:solidFill>
          <a:ln>
            <a:solidFill>
              <a:srgbClr val="C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核心洞察：独特优势 + 协议层缺失 = 2026 年窗口期的战略选择点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外部 agent（OpenAI / Anthropic / Claude）今天只能调 HMS 云 REST，覆盖 ~30%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HMS 开发者要为每设备类写独立集成，手表 vs 手机 vs 车机互不认识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Lily 多设备场景（手表测异常 → 手机规划 → 车机执行）**今天写不出来**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ATD v3 的 4 个新原语（device affinity / distributed sessions / middleware / aliases）**精确对应 HMS 场景**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Phase 0 投入 2 FTE × 2 Q（极低风险）可覆盖 ~30% 场景；Phase 2 可达 ~95%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时间窗口 2026 Q3 — 之后 MCP + agentskills.io 在非 Huawei 生态形成事实标准，成本陡增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6400800"/>
          </a:xfrm>
          <a:prstGeom prst="rect">
            <a:avLst/>
          </a:prstGeom>
          <a:solidFill>
            <a:srgbClr val="C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8B00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Microsoft YaHei"/>
              </a:rPr>
              <a:t>为什么 HMS 需要 ATD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4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§1  华为独特优势  ·  全 7 设备类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2026 Q2 — 全球唯一同时出货 7 类终端 + 统一 OS 的厂商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572000"/>
              </a:tblGrid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设备类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Huawei 代表产品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市场地位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Mate 80 / Pura 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Top 3 中国市场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Watch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Watch 4 / GT 系列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Top 1 中国 smartwatch 出货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Earbuds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FreeBuds Pro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Top 3 中国 TWS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Tablet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MatePad Pro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Top 2 中国平板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MateBook（HarmonyOS PC 2026-04 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Top 3 中国笔记本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Car HMI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Aito / Luxeed / Seres (HIMA)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中国新能源车高端迅速增长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257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Top 5 中国智慧屏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4E97"/>
                </a:solidFill>
                <a:latin typeface="Microsoft YaHei"/>
              </a:rPr>
              <a:t>竞争对手对比：Apple 缺 car · Android 无单一 OEM 覆盖 7 类 · 小米/三星缺统一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→ Huawei 全 7 设备类 + HarmonyOS 统一 — 在 agent 时代本应是最顺滑的生态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5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§2  但 agent 时代没有现成的表达方式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现有协议（MCP / OpenAI Functions / LangChain）都是单设备语义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585216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工作方式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 HMS 覆盖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85216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JSON-RPC over stdio / 单主机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watch 传感器不可达 · 移动端受限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OpenAI Functions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Function schema + HTTP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只云 REST · Native SDK 全无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85216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LangChain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Python 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只在 Python agent 里有用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SKILL.md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Markdown + YAML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不规范 tool dispatch · 仍需底层协议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72424"/>
                </a:solidFill>
                <a:latin typeface="Microsoft YaHei"/>
              </a:rPr>
              <a:t>结果：HMS 丰富能力（watch 原生 HR + phone 同步 + 云备份，三套实装）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72424"/>
                </a:solidFill>
                <a:latin typeface="Microsoft YaHei"/>
              </a:rPr>
              <a:t>→ 现有协议层全部无法区分表达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CE0000"/>
          </a:solidFill>
          <a:ln>
            <a:solidFill>
              <a:srgbClr val="C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这不是 HMS 的错 · 不是 agent 框架的错 · 是生态层面缺一层协议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6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§3  不用 ATD 的 5 种失败场景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以 Lily 健康闭环为例，今天 5 种方案都失败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6400800"/>
              </a:tblGrid>
              <a:tr h="65532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覆盖率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失败点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553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1. 纯云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~30%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watch 实时传感 / fused location / CAN bus / 头部手势全部读不到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2. Android / HarmonyOS SDK only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~75%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OpenAI / Anthropic 不会为 HMS 单独做 → 用户用不了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553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3. Huawei 自家 agent（Celia 独占）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市场隔离 — 用户用 Claude / GPT 就脱离 HMS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4. 为每个 agent 框架做 adapter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N×M 成本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 年已有 10+ 主流 agent；2027 更多 → 成本无限增长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553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5. 只靠 SKILL.md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不解决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Skill 是剧本层；工具层的空仍需 ATD 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B72424"/>
          </a:solidFill>
          <a:ln>
            <a:solidFill>
              <a:srgbClr val="B7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这 5 种失败不是"方案不够好"的问题，是"协议层缺失"的结构性问题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§4  ATD v3 四原语 · 对 HMS 的特定价值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每个新原语直接解决一个 HMS 的结构性问题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200400" cy="548640"/>
          </a:xfrm>
          <a:prstGeom prst="roundRect">
            <a:avLst/>
          </a:prstGeom>
          <a:solidFill>
            <a:srgbClr val="008C8C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Device Affinity  ·  v3 §2.5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同一能力（hms:health.heart_rate.get）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同时声明 watch + phone + REST 三套 binding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dispatch 按当前 platform 自动选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3200400" cy="548640"/>
          </a:xfrm>
          <a:prstGeom prst="roundRect">
            <a:avLst/>
          </a:prstGeom>
          <a:solidFill>
            <a:srgbClr val="144E97"/>
          </a:solidFill>
          <a:ln>
            <a:solidFill>
              <a:srgbClr val="144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Distributed Sessions  ·  v3 §2.6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HarmonyOS DSoftBus 被封装为 transport_hint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外部 agent 统一用 session.migrate/fork/handoff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华为分布式优势从"内部特性"变"生态可消费能力"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3200400" cy="548640"/>
          </a:xfrm>
          <a:prstGeom prst="roundRect">
            <a:avLst/>
          </a:prstGeom>
          <a:solidFill>
            <a:srgbClr val="E58B00"/>
          </a:solidFill>
          <a:ln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driving_constraint  ·  v3 §8.6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三档枚举：safe_always / requires_parked / passenger_only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HIMA 联盟车接第三方 agent 有安全护栏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ADS 5.0 driving state 天然对接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49039"/>
            <a:ext cx="3200400" cy="548640"/>
          </a:xfrm>
          <a:prstGeom prst="round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Result Middleware  ·  v3 §2.7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3891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5 个内置 middleware（pii_redact / injection_scan / ...）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HMS health/location 数据符合 PIPL / GDPR 合规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Microsoft YaHei"/>
              </a:rPr>
              <a:t>→ 协议级保证，非 agent 作者自觉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8 /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§5  与 HIMA / HarmonyOS Cockpit 的战略契合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2026-04 HarmonySpace 6 + ADS 5.0 发布 · HIMA 联盟扩展窗口期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HIMA 联盟面临结构性挑战：每个成员 OEM（Aito / Luxeed / Seres / Maextro）都想 agent 差异化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无统一协议 → HIMA 内部出现 N 套 agent tool schema，分裂度接近 Android 碎片化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ATD 可作为 HIMA 统一 agent tool 协议——合作 on 协议，竞争 on 实装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每家 OEM 提供自己的 ATD tool definition（car-specific feature），共享 binding 接口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HarmonyOS Cockpit API 已开放，但点到点 integrate；ATD 聚合让 ROI 放大数倍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11064240" cy="640080"/>
          </a:xfrm>
          <a:prstGeom prst="roundRect">
            <a:avLst/>
          </a:prstGeom>
          <a:solidFill>
            <a:srgbClr val="008C8C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车-家联动（"回家路上车让家里灯启动"）横跨 car_hmi × smart_home_hub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没有 v3：此场景必须靠 HMS 内部定制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有 v3：外部 agent（任何用户选的 agent）都能 orchestrate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session.migrate(from=car, to=home_hub) — 车机到家门时自动迁移 agent session 到 HiLink 中枢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9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§6  为什么"现在"是关键时间窗口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基础设施协议的标准化通常有 3-5 年窗口期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4E97"/>
                </a:solidFill>
                <a:latin typeface="Microsoft YaHei"/>
              </a:rPr>
              <a:t>历史规律（协议窗口期案例）：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560320"/>
                <a:gridCol w="5029200"/>
              </a:tblGrid>
              <a:tr h="51816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首发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标准化完成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1816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TCP/IP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1981 RFC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1990s 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后续者只能在之上叠加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POSIX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1988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1990 前后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偏离者付兼容成本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1816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1986 ANSI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1990s 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所有 DB 都 SQL-compatible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MCP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2024-11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~2025 事实标准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但单设备协议，无法成为 agent tool POSIX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1816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2026-04 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**2026 Q3 决定性**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谁参与 APWG 谁得席位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0000"/>
                </a:solidFill>
                <a:latin typeface="Microsoft YaHei"/>
              </a:rPr>
              <a:t>华为的 2026 三个关键事件：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2026-04 HarmonyOS PC 首发 — 新增 pc 设备类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2026-04 HarmonySpace 6 + ADS 5.0 发布 — 为 driving_constraint 提供真实 state API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2026 Q3 APWG 形成 — 此时加入获治理席位，之后是加入既有组织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10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§7  战略不对称性  ·  采纳 vs 不采纳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ATD 的采纳对 HMS 有独特的非对称收益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931920"/>
                <a:gridCol w="3931920"/>
              </a:tblGrid>
              <a:tr h="627017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采纳 ATD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不采纳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27017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外部 agent 调 HMS 云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所有 agent 都能调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每个 agent 单独对接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外部 agent 调 HMS 端 kit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1/2 后可用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永远做不到（协议层不存在）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27017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Lily 多设备场景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v3 协议直接支持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HMS 内部定制，外部看不见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HIMA 联盟 OEM 加入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统一协议低门槛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每家 OEM 单独 integrate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27017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车-家联动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协议层支撑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HMS 内部定制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HarmonyOS PC 生态冷启动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立即有 agent 工具生态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从零教育开发者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核心：协议开放反而放大实装者的市场 — 思科定律在 agent 时代的重演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Microsoft YaHei"/>
              </a:rPr>
              <a:t>§8  风险与反对意见应对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5 个常见反对 · 逐条理由 · 缓解措施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132320"/>
              </a:tblGrid>
              <a:tr h="73152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反对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缓解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315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"ATD 是新协议，凭什么信"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v2/v3 公开草案 · APWG rough consensus · Phase 0 试水 cost 极低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"我们已有 Celia"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Celia 可 ATD compliant · 不影响产品差异化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7315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"中美技术脱钩"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ATD 声明 neutral · 华为是 APWG 潜在创始成员（独立参与价值）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"DSoftBus 失独占"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封闭只服务 Huawei · 开放服务全生态 · 硬件依旧是 Huawei 最好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73152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"工程风险"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0/1/2 逐级 commit · Phase 0 成果即便 ATD 失败也是 OpenAPI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  <a:latin typeface="Microsoft YaHei"/>
              </a:rPr>
              <a:t>Phase 0 上限：2 FTE × 2 quarter = 4 工程师季度 · 极低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64008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8B00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Microsoft YaHei"/>
              </a:rPr>
              <a:t>如何实装：Flagship Matrix 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13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§9  Flagship Matrix  ·  5 kits × 3 devices = 15 cells</a:t>
            </a:r>
          </a:p>
          <a:p>
            <a:r>
              <a:rPr sz="1300">
                <a:solidFill>
                  <a:srgbClr val="666666"/>
                </a:solidFill>
                <a:latin typeface="Microsoft YaHei"/>
              </a:rPr>
              <a:t>证明 ATD v3 schema 足以表达 HMS Core 的全部结构复杂度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017520"/>
                <a:gridCol w="3108960"/>
                <a:gridCol w="3017520"/>
              </a:tblGrid>
              <a:tr h="70104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Phone (Mate 80)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Watch (Watch 4)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Car HMI (Aito M9)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0104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HealthKit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REST + HMS Health SDK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Wear Engine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DSoftBus 同步仪表 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Location Kit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fused local + geocode ★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GPS + geofence ○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GNSS + CAN-bus 速度 ○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70104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Push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纯 REST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via phone bridge 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停车再通知 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ML Kit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edge + cloud ○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轻量端推理 ○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车内语音 + 视觉 ○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70104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Site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REST (POI) 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通过 phone 代理 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导航目的地搜索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★ = flagship cell（5 个）完整展开；○ = skeleton（其余 10 个）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icrosoft YaHei"/>
              </a:rPr>
              <a:t>完整 20+ kit × 7 设备类 = 140+ cells，本 deck 以 5×3 证明 v3 足够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14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§10  Kit Inventory  ·  20+ HMS Core Kits 分组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icrosoft YaHei"/>
              </a:rPr>
              <a:t>HMS Core 2026 公开 kit 按 binding 形态分三组：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640080"/>
          </a:xfrm>
          <a:prstGeom prst="roundRect">
            <a:avLst/>
          </a:prstGeom>
          <a:solidFill>
            <a:srgbClr val="144E97"/>
          </a:solidFill>
          <a:ln>
            <a:solidFill>
              <a:srgbClr val="144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Pure Cloud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Push Kit (send)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Site Kit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部分 Account Kit (OAuth)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Drive Kit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Cloud ML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4E97"/>
                </a:solidFill>
                <a:latin typeface="Microsoft YaHei"/>
              </a:rPr>
              <a:t>占比：~15% · gws 可包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657600" cy="640080"/>
          </a:xfrm>
          <a:prstGeom prst="roundRect">
            <a:avLst/>
          </a:prstGeom>
          <a:solidFill>
            <a:srgbClr val="008C8C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Hybrid (REST + On-device)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146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HealthKit ★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Location Kit ★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Map Kit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ML Kit ★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Analytics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C8C"/>
                </a:solidFill>
                <a:latin typeface="Microsoft YaHei"/>
              </a:rPr>
              <a:t>占比：~25% · ATD 核心价值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83080"/>
            <a:ext cx="3657600" cy="640080"/>
          </a:xfrm>
          <a:prstGeom prst="roundRect">
            <a:avLst/>
          </a:prstGeom>
          <a:solidFill>
            <a:srgbClr val="E58B00"/>
          </a:solidFill>
          <a:ln>
            <a:solidFill>
              <a:srgbClr val="E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On-device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Scan / Camera / Wallet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Awareness / Ads / IAP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Safety Detect / FIDO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Microsoft YaHei"/>
              </a:rPr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58B00"/>
                </a:solidFill>
                <a:latin typeface="Microsoft YaHei"/>
              </a:rPr>
              <a:t>占比：~60% · 必须 AppFunction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CE0000"/>
          </a:solidFill>
          <a:ln>
            <a:solidFill>
              <a:srgbClr val="C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gws / 单 CLI 方案只能覆盖第一组（~15%） · 加 Hybrid 也仅 ~40%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HMS Core 超过半数能力是端侧独占 → 必须 ATD 多 binding 才能完整覆盖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15 /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§11  Device Inventory  ·  HMS 覆盖 7 设备类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926080"/>
                <a:gridCol w="2286000"/>
                <a:gridCol w="4663440"/>
              </a:tblGrid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Device class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HMS 代表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OS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典型传感 / 能力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Mate 80 Pura / Pura 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5/6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camera · mic · gps · accel · bio-id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watch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Watch 4 / GT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Lite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heart_rate · ecg · spo2 · accel · gps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earbuds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FreeBuds Pro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Audio 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microphone · head-tracking · NearLink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tablet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MatePad Pro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5/6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大屏 + stylus + 与 phone 同 SDK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MateBook（2026-04 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键鼠 + 全算力 + 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car_hmi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Aito M7/M9 / Luxeed / Seres (HIMA)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HarmonySpace 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can_bus · gps · 多摄 · 激光雷达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7150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10-ft UI · 家庭共享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4E97"/>
                </a:solidFill>
                <a:latin typeface="Microsoft YaHei"/>
              </a:rPr>
              <a:t>+ smart_home_hub（HiLink 中枢）— 总计业界唯一覆盖 8 设备类的厂商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Cell 1  ·  HealthKit × Watch  ·  Wear Engine binding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从 Huawei Watch 4 本地读实时心率 · 延迟 &lt;30ms · 不经手机/云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atd_version: "1.0"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id: hms:health.heart_rate.get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capability: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domain: health.vitals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intent_examples: ["我现在心率多少", "heart rate now"]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device: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preferred: [watch]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fallback: [phone]                        # phone 读同步数据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requires: { sensors: [heart_rate]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bindings: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appfunction: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watch, vendor: huawei, platform: harmonyos_lite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kit: wear_engine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ability: com.huawei.health.HealthDataProvider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action: getCurrentHeartRate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watch, vendor: apple, platform: watchos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framework: HealthKit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watch, vendor: google, platform: wear_os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tile: HeartRate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rest: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url: https://health-api.cloud.huawei.com/...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coverage: sync_only                     # cloud 只能读同步值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safety: { level: read, data_sensitivity: health_private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result_middleware: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- type: pii_redact, fields: [source_device_id], mode: transform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Cell 2  ·  HealthKit × Phone  ·  HMS Health SDK +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Phone 读 aggregated 睡眠 / 步数 / 每日汇总 — 来自 watch 同步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id: hms:health.sleep.get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capability: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domain: health.sleep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intent_examples: ["昨晚睡眠怎么样", "how did I sleep"]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device: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preferred: [phone]                    # 聚合视图在 phone 最合适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fallback: []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bindings: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appfunction: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phone, vendor: huawei, platform: harmonyos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kit: hms_health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ability: com.huawei.health.SleepDataAbility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phone, vendor: huawei, platform: android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sdk: com.huawei.hms.health-sleep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method: HealthClient.getSleepData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phone, vendor: apple, platform: ios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framework: HealthKit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entity: HKCategoryValueSleepAnalysis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rest: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url: https://health-api.cloud.huawei.com/v2/sleep?date={date}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auth: { type: oauth2, scope: "huawei.health.sleep.read"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safety: { level: read, data_sensitivity: health_private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result_middleware: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- type: pii_redact, fields: [source_device_id]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Cell 3  ·  Location Kit × Phone  ·  fused + geocoding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高精度 fused location（on-device）+ 云端 geocoding（fallback）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id: hms:location.current.get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capability: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domain: location.current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intent_examples: ["我在哪", "where am I"]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device: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preferred: [phone, car_hmi]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fallback: [tablet, pc]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requires: { sensors: [gps]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bindings: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appfunction: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phone, vendor: huawei, platform: harmonyos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kit: location_kit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ability: com.huawei.hms.location.FusedLocationAbility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phone, vendor: apple, platform: ios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framework: CoreLocation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phone, vendor: google, platform: android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sdk: com.google.android.gms.location.FusedLocationProviderClient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rest: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url: https://location-api.cloud.huawei.com/v2/locate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coverage: "IP-based，精度 1-5 km，室内失效"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safety: { level: read, data_sensitivity: location_private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result_middleware: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- type: prompt_injection_scan, mode: warn   # 反射式数据，保险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Cell 4  ·  Push Kit × Phone  ·  cloud-only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HMS 最简单 binding — 纯云 REST，gws-style 范本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id: hms:push.send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capability: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domain: messaging.push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intent_examples: ["推送通知", "send push notification"]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input: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type: object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properties: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device_token: { type: string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title:        { type: string, maxLength: 50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body:         { type: string, maxLength: 500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required: [device_token, title, body]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device: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preferred: [phone, pc]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requires: { transport: [wifi, lte, 5g]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bindings: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rest: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method: POST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url_template: https://push-api.cloud.huawei.com/v2/{app_id}/messages:send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auth: { type: oauth2, scope: "huawei.push.send"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safety: { level: write, side_effects: [user_notification]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ergonomic_aliases: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- alias_id: hms.push.simple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input: { properties: { to, message }, required: [to, message]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maps_to: { tool_id: hms:push.send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Cell 5  ·  Site Kit × Car HMI  ·  HarmonySpace 6 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icrosoft YaHei"/>
              </a:rPr>
              <a:t>v3 driving_constraint 最强展示 · HIMA 联盟通用场景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000">
                <a:solidFill>
                  <a:srgbClr val="D4D4E0"/>
                </a:solidFill>
                <a:latin typeface="Consolas"/>
              </a:rPr>
              <a:t>id: hms:site.nearby.search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capability: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domain: location.poi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intent_examples: ["附近的加油站", "nearby hospital"]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device: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preferred: [car_hmi, phone]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fallback: [tablet]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bindings: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rest: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url: https://siteapi.cloud.huawei.com/mapApi/v2/siteService/nearbySearch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auth: { type: oauth2, scope: "huawei.site.read" }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appfunction: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- device_type: car_hmi, vendor: huawei, platform: harmonyspace_6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kit: site_kit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ability: com.huawei.automotive.NearbySiteProvider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    action: searchNearby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safety: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level: read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driving_constraint: safe_always             # ★ 驾驶中可用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result_middleware: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- type: trim, strategy: top_items_by_path, path: $.results, limit: 5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- type: format_transform, target: markdown  # TTS 友好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output_hint: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prefer_display: [screen_medium, voice_summary]</a:t>
            </a:r>
          </a:p>
          <a:p>
            <a:r>
              <a:rPr sz="1000">
                <a:solidFill>
                  <a:srgbClr val="D4D4E0"/>
                </a:solidFill>
                <a:latin typeface="Consolas"/>
              </a:rPr>
              <a:t>  fallback_display: [voice_summary]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Scenario A  ·  健康异常闭环（Watch → Phone）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72424"/>
                </a:solidFill>
                <a:latin typeface="Microsoft YaHei"/>
              </a:rPr>
              <a:t>Trigger: Watch 检测睡眠中 90+ bpm 或清醒静息 120+ bpm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5394960"/>
              </a:tblGrid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v3 原语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Watch 本地周期 health.anomaly.detect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device.preferred:[watch] + sensors:[heart_rate]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Watch push event → Phone via DSoftBus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Super Device (Appendix I)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agent 接手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session.handoff(trigger=auto_on_event)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hms:health.heart_rate.get 当前读数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Cell 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hms:health.sleep.get 睡眠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Cell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calendar.get 今日日程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一般 ATD tool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LLM 决策：建议提前看医生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纯推理，无 ATD 调用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calendar.reschedule + hms:push.send 通知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Cell 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整个闭环未使用任何 v2 中没有的协议扩展 · v3 三新原语共同组成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22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Scenario B  ·  智能驾车（Phone → Car → Earbuds）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72424"/>
                </a:solidFill>
                <a:latin typeface="Microsoft YaHei"/>
              </a:rPr>
              <a:t>Trigger: Lily 对 phone 说 "去最近的医院"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5394960"/>
              </a:tblGrid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v3 原语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hms:location.current.get 拿 GPS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Cell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hms:site.nearby.search 找医院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Cell 5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Phone 调 car.navigation.route_to 设置导航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driving_constraint: safe_always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Lily 进车 → session 迁移到 Car HMI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session.handoff(trigger=proximity) + DSoftBus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Car HMI 展示路线（driving_constraint OK）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v3 §8.6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ADS 5.0 接管驾驶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车机 state machine（非 ATD）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过程中 earbuds 语音通知转弯（TTS via audio-stream）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§8.3 control plane · 音频流不经 ATD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到达目的地 → session 分叉回 phone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session.fork(target=phone)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008C8C"/>
          </a:solidFill>
          <a:ln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 设备类协作：phone · car_hmi · earbuds · （ADS 车机自身）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23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Scenario C  ·  家庭健康周报（Watch → Cloud → PC/TV）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72424"/>
                </a:solidFill>
                <a:latin typeface="Microsoft YaHei"/>
              </a:rPr>
              <a:t>Trigger: 周日晚 8 点 cron 触发 agent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5394960"/>
              </a:tblGrid>
              <a:tr h="470262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v3 原语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70262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对每家庭成员调 hms:health.sleep.get × 7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Cell 2 批量调用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调 hms:health.exercise.get 运动数据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普通 ATD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0262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云端聚合 → 生成 markdown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agent 自己聚合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调 hms:push.send 发摘要给每人 phone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Cell 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70262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详细 PDF 存到 Drive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Drive Kit 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TV / PC 链接 → 大屏渲染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output_hint.prefer_display: [screen_large]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为什么这些场景证明 ATD v3 suffices：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008C8C"/>
                </a:solidFill>
                <a:latin typeface="Calibri"/>
              </a:rPr>
              <a:t>● </a:t>
            </a:r>
            <a:r>
              <a:rPr sz="1100">
                <a:solidFill>
                  <a:srgbClr val="333333"/>
                </a:solidFill>
                <a:latin typeface="Microsoft YaHei"/>
              </a:rPr>
              <a:t>所有 cross-device edge 都在 v3 schema 表达（无 hack）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008C8C"/>
                </a:solidFill>
                <a:latin typeface="Calibri"/>
              </a:rPr>
              <a:t>● </a:t>
            </a:r>
            <a:r>
              <a:rPr sz="1100">
                <a:solidFill>
                  <a:srgbClr val="333333"/>
                </a:solidFill>
                <a:latin typeface="Microsoft YaHei"/>
              </a:rPr>
              <a:t>所有 safety / privacy 约束都在 schema 表达（driving_constraint + pii_redact）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008C8C"/>
                </a:solidFill>
                <a:latin typeface="Calibri"/>
              </a:rPr>
              <a:t>● </a:t>
            </a:r>
            <a:r>
              <a:rPr sz="1100">
                <a:solidFill>
                  <a:srgbClr val="333333"/>
                </a:solidFill>
                <a:latin typeface="Microsoft YaHei"/>
              </a:rPr>
              <a:t>所有 HMS-proprietary 能力都被 ATD 以 neutral 方式包装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24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§12  分阶段实装路线  ·  每阶段独立可验证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645920"/>
                <a:gridCol w="4846320"/>
                <a:gridCol w="2560320"/>
                <a:gridCol w="1737360"/>
              </a:tblGrid>
              <a:tr h="822960"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Phase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交付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投入 · 风险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覆盖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2296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2026 Q2–Q3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HMS 5 大 Cloud Kit REST binding + APWG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 FTE × 2 Q · 极低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HarmonyOS 5 NEXT 与 Android on-device AppFunction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3-5 FTE × 1 Q · 中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~60%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82296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2027 Q1–Q2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Watch (Wear Engine) · Car (HarmonySpace 6) · Earbuds + DSoftBus 分布式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5-10 FTE × 2 Q · 中高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~95%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3+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2027 H2+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TV · PC 长尾 + HIMA OEM 扩展 + APWG 升格 W3C / IETF / LF AI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与生态共建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4E97"/>
                </a:solidFill>
                <a:latin typeface="Microsoft YaHei"/>
              </a:rPr>
              <a:t>每阶段独立 go/no-go gate：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008C8C"/>
                </a:solidFill>
                <a:latin typeface="Calibri"/>
              </a:rPr>
              <a:t>● </a:t>
            </a:r>
            <a:r>
              <a:rPr sz="1100">
                <a:solidFill>
                  <a:srgbClr val="333333"/>
                </a:solidFill>
                <a:latin typeface="Microsoft YaHei"/>
              </a:rPr>
              <a:t>Phase 0 → 1 gate：3 家独立外部 agent 成功调 HMS 云 API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008C8C"/>
                </a:solidFill>
                <a:latin typeface="Calibri"/>
              </a:rPr>
              <a:t>● </a:t>
            </a:r>
            <a:r>
              <a:rPr sz="1100">
                <a:solidFill>
                  <a:srgbClr val="333333"/>
                </a:solidFill>
                <a:latin typeface="Microsoft YaHei"/>
              </a:rPr>
              <a:t>Phase 1 → 2 gate：一个 real-world agent 在 Mate 80 上跑通 Lily §A</a:t>
            </a:r>
          </a:p>
          <a:p>
            <a:pPr>
              <a:lnSpc>
                <a:spcPct val="125000"/>
              </a:lnSpc>
            </a:pPr>
            <a:r>
              <a:rPr sz="1100" b="1">
                <a:solidFill>
                  <a:srgbClr val="008C8C"/>
                </a:solidFill>
                <a:latin typeface="Calibri"/>
              </a:rPr>
              <a:t>● </a:t>
            </a:r>
            <a:r>
              <a:rPr sz="1100">
                <a:solidFill>
                  <a:srgbClr val="333333"/>
                </a:solidFill>
                <a:latin typeface="Microsoft YaHei"/>
              </a:rPr>
              <a:t>Phase 2 → 3 gate：一个 HIMA OEM 接受 ATD 作为 agent binding 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25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8C8C"/>
                </a:solidFill>
                <a:latin typeface="Microsoft YaHei"/>
              </a:rPr>
              <a:t>§13  IAM 映射  ·  Huawei ID × HMS OAuth × ATD UCAN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icrosoft YaHei"/>
              </a:rPr>
              <a:t>ATD 在 HMS 现有 IAM 之上增加一层 UCAN capability token — 不替代，是叠加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64240" cy="2377440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37160" rIns="137160"/>
          <a:lstStyle/>
          <a:p>
            <a:pPr algn="ctr"/>
            <a:r>
              <a:rPr sz="1100">
                <a:solidFill>
                  <a:srgbClr val="D4D4E0"/>
                </a:solidFill>
                <a:latin typeface="Consolas"/>
              </a:rPr>
              <a:t># 双层验证流程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Lily 登录 Huawei ID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AppGallery 颁发 OAuth 2.0 access token (scope: huawei.health.read / ...)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ATD Dispatch Step 1: Verify UCAN capability token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ATD Dispatch Step 5-6: Route binding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    ├─ appfunction: 设备 HMS SDK 内部 OAuth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    └─ rest: 附带 HMS OAuth token in HTTP header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    ↓</a:t>
            </a:r>
          </a:p>
          <a:p>
            <a:r>
              <a:rPr sz="1100">
                <a:solidFill>
                  <a:srgbClr val="D4D4E0"/>
                </a:solidFill>
                <a:latin typeface="Consolas"/>
              </a:rPr>
              <a:t>HMS kit 执行（OAuth 授权逻辑不变）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4E97"/>
                </a:solidFill>
                <a:latin typeface="Microsoft YaHei"/>
              </a:rPr>
              <a:t>双层叠加的意义：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OAuth：Huawei 授权 agent 的 *app* 访问 HMS 数据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UCAN：Lily 授权 agent 的 *这次调用* 符合她的意愿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叠加后 cross-vendor agent（非 Huawei 开发）也能在 Lily 授权下调 HMS tool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跨设备迁移：UCAN delegation chain 自动 attenuate 到目标设备（降权 + 更短 TTL）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26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6400800"/>
          </a:xfrm>
          <a:prstGeom prst="rect">
            <a:avLst/>
          </a:prstGeom>
          <a:solidFill>
            <a:srgbClr val="E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58B00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Microsoft YaHei"/>
              </a:rPr>
              <a:t>行动请求 · Phase 0 试点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27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58B00"/>
                </a:solidFill>
                <a:latin typeface="Microsoft YaHei"/>
              </a:rPr>
              <a:t>§14  Phase 0 试点请求  ·  2026 Q2–Q3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64008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投入上限：2 FTE × 2 quarter = 4 工程师季度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建议工作（合适人选：熟悉 HMS Cloud API + Rust 或 Go）：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选 1 个 flagship kit（推荐 Push Kit，最简单）做 ATD REST binding 参考实装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发布到 GitHub atd-protocol 组织作为 reference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参加 2026 Q3 的 APWG formation call（Huawei 作为潜在创始成员）</a:t>
            </a:r>
          </a:p>
          <a:p>
            <a:pPr>
              <a:lnSpc>
                <a:spcPct val="125000"/>
              </a:lnSpc>
            </a:pPr>
            <a:r>
              <a:rPr sz="1300" b="1">
                <a:solidFill>
                  <a:srgbClr val="008C8C"/>
                </a:solidFill>
                <a:latin typeface="Calibri"/>
              </a:rPr>
              <a:t>● </a:t>
            </a:r>
            <a:r>
              <a:rPr sz="1300">
                <a:solidFill>
                  <a:srgbClr val="333333"/>
                </a:solidFill>
                <a:latin typeface="Microsoft YaHei"/>
              </a:rPr>
              <a:t>Phase 0 完成后 evaluate 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YaHei"/>
              </a:rPr>
              <a:t>ATD 项目方提供：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v3 whitepaper 完整规范 + applied design 文档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atd-mvp 独立 repo 作为参考 SDK（/home/nan/proj/atd-mvp/ 已初始化）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每周同步会议（时区友好）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Phase 0 成果即便 ATD 失败也可复用为 OpenAPI gateway — 零浪费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28 /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58B00"/>
                </a:solidFill>
                <a:latin typeface="Microsoft YaHei"/>
              </a:rPr>
              <a:t>§15  决策时间表  ·  每个节点独立 commit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3840480"/>
                <a:gridCol w="3749039"/>
              </a:tblGrid>
              <a:tr h="68580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节点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决定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下一步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Gate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2026-05 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0 启动与否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1 FTE × 1 quarter 试点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Gate 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2026-08 底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0 成果 review；是否进 Phase 1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1 投入承诺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8580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Gate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1 review；是否进 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2 投入承诺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APWG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Huawei Founding Adopter 席位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治理话语权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8580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Milestone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2026-10 HIMA Summit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Aito M9 × ATD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对外展示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57"/>
                </a:solidFill>
                <a:latin typeface="Microsoft YaHei"/>
              </a:rPr>
              <a:t>每 gate 独立 go/no-go — 任一 gate 不通过都不影响已投入价值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58B00"/>
                </a:solidFill>
                <a:latin typeface="Microsoft YaHei"/>
              </a:rPr>
              <a:t>§16  APWG 治理  ·  Huawei 的角色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474720"/>
                <a:gridCol w="3931920"/>
              </a:tblGrid>
              <a:tr h="640080"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主导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决策机制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 Q2 – 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ANOS 项目 + 早期采纳者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维护者 consensus + GitHub RFC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2026 Q4 – 2027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APWG 多利益方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Rough Consensus + 2 minor deprecation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640080"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2028+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W3C / IETF / LF AI 托管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 lIns="73152" rIns="73152"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Microsoft YaHei"/>
                        </a:rPr>
                        <a:t>标准化组织流程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0000"/>
                </a:solidFill>
                <a:latin typeface="Microsoft YaHei"/>
              </a:rPr>
              <a:t>Founding Adopter 席位（Phase 1 有限名额）：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大厂 / 云厂商 CTO  →  在 agent 产品支持 ATD binding  →  获治理话语权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Huawei 作为 HMS + 全 7 设备类持有者是 natural 创始席位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特定领域集合：vendor:huawei:* · vendor:xiaomi:* · 企业 SaaS · 医疗 IoT · 金融</a:t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08C8C"/>
                </a:solidFill>
                <a:latin typeface="Calibri"/>
              </a:rPr>
              <a:t>● </a:t>
            </a:r>
            <a:r>
              <a:rPr sz="1200">
                <a:solidFill>
                  <a:srgbClr val="333333"/>
                </a:solidFill>
                <a:latin typeface="Microsoft YaHei"/>
              </a:rPr>
              <a:t>Phase 3 升格时，Founding Adopter 自动进 W3C / IETF 工作组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30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58B00"/>
                </a:solidFill>
                <a:latin typeface="Microsoft YaHei"/>
              </a:rPr>
              <a:t>结语  ·  Call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371600"/>
          </a:xfrm>
          <a:prstGeom prst="roundRect">
            <a:avLst/>
          </a:prstGeom>
          <a:solidFill>
            <a:srgbClr val="CE0000"/>
          </a:solidFill>
          <a:ln>
            <a:solidFill>
              <a:srgbClr val="C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2026 年华为拥有一个独特的事实：全 7 设备类 + 统一 OS + AI agent 潮流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2026 年华为面临一个结构性缺失：没有工具协议能让这些优势跨生态释放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Microsoft YaHei"/>
              </a:rPr>
              <a:t>ATD v3 恰好是为 HMS Core 这种场景设计的中立协议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Microsoft YaHei"/>
              </a:rPr>
              <a:t>采纳 ATD 不是对外部开放的"让步"，而是把硬件优势转化为软件影响力的杠杆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11064240" cy="914400"/>
          </a:xfrm>
          <a:prstGeom prst="roundRect">
            <a:avLst/>
          </a:prstGeom>
          <a:solidFill>
            <a:srgbClr val="B72424"/>
          </a:solidFill>
          <a:ln>
            <a:solidFill>
              <a:srgbClr val="B7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时间窗口：2026 Q3 前 · 之后成本陡增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下一步：指定 1-2 名工程师 + 2 quarter ·  Phase 0 启动 ·  Q3 APWG 席位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31 /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64008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008C8C"/>
                </a:solidFill>
                <a:latin typeface="Calibri"/>
              </a:rPr>
              <a:t>Unlock the HMS 7-Device Advantage in the Agent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rgbClr val="E58B00"/>
                </a:solidFill>
                <a:latin typeface="Calibri"/>
              </a:rPr>
              <a:t>Protocol      ·  github.com/atd-protocol  (筹建中)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E58B00"/>
                </a:solidFill>
                <a:latin typeface="Calibri"/>
              </a:rPr>
              <a:t>Feedback      ·  feedback@atd-protocol.org  (筹建中)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E58B00"/>
                </a:solidFill>
                <a:latin typeface="Calibri"/>
              </a:rPr>
              <a:t>APWG Seats    ·  Founding Adopter 席位征集中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E58B00"/>
                </a:solidFill>
                <a:latin typeface="Calibri"/>
              </a:rPr>
              <a:t>Contact HMS   ·  本项目 HMS 技术对接窗口 · 待建立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656832"/>
            <a:ext cx="128016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32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56832"/>
            <a:ext cx="5486400" cy="20116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Calibri"/>
              </a:rPr>
              <a:t>HMS Core × ATD ·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