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457200" cy="36576"/>
          </a:xfrm>
          <a:prstGeom prst="rect">
            <a:avLst/>
          </a:prstGeom>
          <a:solidFill>
            <a:srgbClr val="CE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5486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CE7A00"/>
                </a:solidFill>
                <a:latin typeface="Calibri"/>
              </a:rPr>
              <a:t>White Paper  ·  v3.0  ·  2026-04</a:t>
            </a:r>
            <a:endParaRPr sz="1000" b="0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207008"/>
            <a:ext cx="5486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555868"/>
                </a:solidFill>
                <a:latin typeface="Calibri"/>
              </a:rPr>
              <a:t>Multi-Device Extension</a:t>
            </a:r>
            <a:endParaRPr sz="1000" b="0">
              <a:solidFill>
                <a:srgbClr val="555868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698480" cy="1463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7600" b="0">
                <a:solidFill>
                  <a:srgbClr val="1F202D"/>
                </a:solidFill>
                <a:latin typeface="Calibri"/>
              </a:rPr>
              <a:t>Agent Tool</a:t>
            </a:r>
            <a:endParaRPr sz="7600" b="0">
              <a:solidFill>
                <a:srgbClr val="1F202D"/>
              </a:solidFill>
              <a:latin typeface="Calibri"/>
            </a:endParaRPr>
          </a:p>
          <a:p>
            <a:r>
              <a:rPr sz="7600" b="0">
                <a:solidFill>
                  <a:srgbClr val="122F4E"/>
                </a:solidFill>
                <a:latin typeface="Calibri"/>
              </a:rPr>
              <a:t>Dispatch</a:t>
            </a:r>
            <a:endParaRPr sz="76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69848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0">
                <a:solidFill>
                  <a:srgbClr val="555868"/>
                </a:solidFill>
                <a:latin typeface="Calibri"/>
              </a:rPr>
              <a:t>A POSIX for the Autonomous Agent Era</a:t>
            </a:r>
            <a:endParaRPr sz="2200" b="0">
              <a:solidFill>
                <a:srgbClr val="555868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5852160"/>
            <a:ext cx="10698480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50292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CE7A00"/>
                </a:solidFill>
                <a:latin typeface="Calibri"/>
              </a:rPr>
              <a:t>v3 adds</a:t>
            </a:r>
            <a:endParaRPr sz="1000" b="1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109728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Multi-Device Dispatch    ·    Distributed Sessions    ·    Result Middleware    ·    Ergonomic Aliases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CONTENTS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目录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31520" cy="4572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2800" b="0">
                <a:solidFill>
                  <a:srgbClr val="CE7A00"/>
                </a:solidFill>
                <a:latin typeface="Calibri"/>
              </a:rPr>
              <a:t>01</a:t>
            </a:r>
            <a:endParaRPr sz="2800" b="0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37360" y="1920240"/>
            <a:ext cx="4206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800">
                <a:solidFill>
                  <a:srgbClr val="1F202D"/>
                </a:solidFill>
                <a:latin typeface="Calibri"/>
              </a:rPr>
              <a:t>The Problem</a:t>
            </a:r>
            <a:endParaRPr sz="1800">
              <a:solidFill>
                <a:srgbClr val="1F202D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7360" y="2331720"/>
            <a:ext cx="420624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>
                <a:solidFill>
                  <a:srgbClr val="555868"/>
                </a:solidFill>
                <a:latin typeface="微软雅黑"/>
              </a:rPr>
              <a:t>Fragmentation · Lily · POSIX moment</a:t>
            </a:r>
            <a:endParaRPr sz="110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731520" cy="4572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2800" b="0">
                <a:solidFill>
                  <a:srgbClr val="122F4E"/>
                </a:solidFill>
                <a:latin typeface="Calibri"/>
              </a:rPr>
              <a:t>02</a:t>
            </a:r>
            <a:endParaRPr sz="28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7360" y="2926080"/>
            <a:ext cx="4206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800">
                <a:solidFill>
                  <a:srgbClr val="1F202D"/>
                </a:solidFill>
                <a:latin typeface="Calibri"/>
              </a:rPr>
              <a:t>The Solution</a:t>
            </a:r>
            <a:endParaRPr sz="1800">
              <a:solidFill>
                <a:srgbClr val="1F202D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0" y="3337560"/>
            <a:ext cx="420624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>
                <a:solidFill>
                  <a:srgbClr val="555868"/>
                </a:solidFill>
                <a:latin typeface="微软雅黑"/>
              </a:rPr>
              <a:t>ATD · Skills layering · v3 primitives</a:t>
            </a:r>
            <a:endParaRPr sz="110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731520" cy="4572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2800" b="0">
                <a:solidFill>
                  <a:srgbClr val="122F4E"/>
                </a:solidFill>
                <a:latin typeface="Calibri"/>
              </a:rPr>
              <a:t>03</a:t>
            </a:r>
            <a:endParaRPr sz="28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37360" y="3931920"/>
            <a:ext cx="4206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800">
                <a:solidFill>
                  <a:srgbClr val="1F202D"/>
                </a:solidFill>
                <a:latin typeface="Calibri"/>
              </a:rPr>
              <a:t>The Evidence</a:t>
            </a:r>
            <a:endParaRPr sz="1800">
              <a:solidFill>
                <a:srgbClr val="1F202D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37360" y="4343400"/>
            <a:ext cx="420624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>
                <a:solidFill>
                  <a:srgbClr val="555868"/>
                </a:solidFill>
                <a:latin typeface="微软雅黑"/>
              </a:rPr>
              <a:t>Multi-device Lily closed loop</a:t>
            </a:r>
            <a:endParaRPr sz="110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731520" cy="4572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2800" b="0">
                <a:solidFill>
                  <a:srgbClr val="122F4E"/>
                </a:solidFill>
                <a:latin typeface="Calibri"/>
              </a:rPr>
              <a:t>04</a:t>
            </a:r>
            <a:endParaRPr sz="28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37360" y="4937760"/>
            <a:ext cx="4206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800">
                <a:solidFill>
                  <a:srgbClr val="1F202D"/>
                </a:solidFill>
                <a:latin typeface="Calibri"/>
              </a:rPr>
              <a:t>The Action</a:t>
            </a:r>
            <a:endParaRPr sz="1800">
              <a:solidFill>
                <a:srgbClr val="1F202D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37360" y="5349240"/>
            <a:ext cx="420624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>
                <a:solidFill>
                  <a:srgbClr val="555868"/>
                </a:solidFill>
                <a:latin typeface="微软雅黑"/>
              </a:rPr>
              <a:t>Six adoption paths</a:t>
            </a:r>
            <a:endParaRPr sz="110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09360" y="1920240"/>
            <a:ext cx="731520" cy="4572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2800" b="0">
                <a:solidFill>
                  <a:srgbClr val="122F4E"/>
                </a:solidFill>
                <a:latin typeface="Calibri"/>
              </a:rPr>
              <a:t>05</a:t>
            </a:r>
            <a:endParaRPr sz="28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23760" y="1920240"/>
            <a:ext cx="4206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800">
                <a:solidFill>
                  <a:srgbClr val="1F202D"/>
                </a:solidFill>
                <a:latin typeface="Calibri"/>
              </a:rPr>
              <a:t>Common Ground</a:t>
            </a:r>
            <a:endParaRPr sz="1800">
              <a:solidFill>
                <a:srgbClr val="1F202D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23760" y="2331720"/>
            <a:ext cx="420624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>
                <a:solidFill>
                  <a:srgbClr val="555868"/>
                </a:solidFill>
                <a:latin typeface="微软雅黑"/>
              </a:rPr>
              <a:t>Hello World · MCP · Framework</a:t>
            </a:r>
            <a:endParaRPr sz="110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9360" y="2926080"/>
            <a:ext cx="731520" cy="4572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2800" b="0">
                <a:solidFill>
                  <a:srgbClr val="0C676B"/>
                </a:solidFill>
                <a:latin typeface="Calibri"/>
              </a:rPr>
              <a:t>08</a:t>
            </a:r>
            <a:endParaRPr sz="2800" b="0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23760" y="2926080"/>
            <a:ext cx="4206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800">
                <a:solidFill>
                  <a:srgbClr val="1F202D"/>
                </a:solidFill>
                <a:latin typeface="Calibri"/>
              </a:rPr>
              <a:t>Device Developers</a:t>
            </a:r>
            <a:endParaRPr sz="1800">
              <a:solidFill>
                <a:srgbClr val="1F202D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223760" y="3337560"/>
            <a:ext cx="420624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>
                <a:solidFill>
                  <a:srgbClr val="555868"/>
                </a:solidFill>
                <a:latin typeface="微软雅黑"/>
              </a:rPr>
              <a:t>Phone · Watch · Earbuds · Tablet · PC · Car · TV</a:t>
            </a:r>
            <a:endParaRPr sz="110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731520" cy="4572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2800" b="0">
                <a:solidFill>
                  <a:srgbClr val="122F4E"/>
                </a:solidFill>
                <a:latin typeface="Calibri"/>
              </a:rPr>
              <a:t>10</a:t>
            </a:r>
            <a:endParaRPr sz="28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23760" y="3931920"/>
            <a:ext cx="4206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800">
                <a:solidFill>
                  <a:srgbClr val="1F202D"/>
                </a:solidFill>
                <a:latin typeface="Calibri"/>
              </a:rPr>
              <a:t>Lily End-to-End</a:t>
            </a:r>
            <a:endParaRPr sz="1800">
              <a:solidFill>
                <a:srgbClr val="1F202D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23760" y="4343400"/>
            <a:ext cx="420624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>
                <a:solidFill>
                  <a:srgbClr val="555868"/>
                </a:solidFill>
                <a:latin typeface="微软雅黑"/>
              </a:rPr>
              <a:t>Full scenario trace</a:t>
            </a:r>
            <a:endParaRPr sz="110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60" y="4937760"/>
            <a:ext cx="731520" cy="4572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2800" b="0">
                <a:solidFill>
                  <a:srgbClr val="A61E24"/>
                </a:solidFill>
                <a:latin typeface="Calibri"/>
              </a:rPr>
              <a:t>A–L</a:t>
            </a:r>
            <a:endParaRPr sz="2800" b="0">
              <a:solidFill>
                <a:srgbClr val="A61E24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23760" y="4937760"/>
            <a:ext cx="4206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800">
                <a:solidFill>
                  <a:srgbClr val="1F202D"/>
                </a:solidFill>
                <a:latin typeface="Calibri"/>
              </a:rPr>
              <a:t>Appendices</a:t>
            </a:r>
            <a:endParaRPr sz="1800">
              <a:solidFill>
                <a:srgbClr val="1F202D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23760" y="5349240"/>
            <a:ext cx="420624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>
                <a:solidFill>
                  <a:srgbClr val="555868"/>
                </a:solidFill>
                <a:latin typeface="微软雅黑"/>
              </a:rPr>
              <a:t>Schema · Errors · Conformance · H/I/J/K/L (new)</a:t>
            </a:r>
            <a:endParaRPr sz="110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02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CE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CE7A00"/>
                </a:solidFill>
                <a:latin typeface="Calibri"/>
              </a:rPr>
              <a:t>WHAT'S NEW</a:t>
            </a:r>
            <a:endParaRPr sz="1000" b="1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v3 相对 v2 的决定性变化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v3.0 是 v2.0 严格 superset — 所有 v2 兼容 tool 无需重写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499283" cy="12801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200" b="0">
                <a:solidFill>
                  <a:srgbClr val="122F4E"/>
                </a:solidFill>
                <a:latin typeface="Calibri"/>
              </a:rPr>
              <a:t>7</a:t>
            </a:r>
            <a:endParaRPr sz="92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2499283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300" b="1">
                <a:solidFill>
                  <a:srgbClr val="1F202D"/>
                </a:solidFill>
                <a:latin typeface="微软雅黑"/>
              </a:rPr>
              <a:t>Device classes</a:t>
            </a:r>
            <a:endParaRPr sz="13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2499283" cy="914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555868"/>
                </a:solidFill>
                <a:latin typeface="微软雅黑"/>
              </a:rPr>
              <a:t>phone / watch / earbuds</a:t>
            </a:r>
            <a:endParaRPr sz="1000">
              <a:solidFill>
                <a:srgbClr val="555868"/>
              </a:solidFill>
              <a:latin typeface="微软雅黑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555868"/>
                </a:solidFill>
                <a:latin typeface="微软雅黑"/>
              </a:rPr>
              <a:t>tablet / pc / car_hmi / tv</a:t>
            </a:r>
            <a:endParaRPr sz="100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05123" y="2011680"/>
            <a:ext cx="2499283" cy="12801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200" b="0">
                <a:solidFill>
                  <a:srgbClr val="CE7A00"/>
                </a:solidFill>
                <a:latin typeface="Calibri"/>
              </a:rPr>
              <a:t>4</a:t>
            </a:r>
            <a:endParaRPr sz="9200" b="0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05123" y="3383280"/>
            <a:ext cx="2499283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300" b="1">
                <a:solidFill>
                  <a:srgbClr val="1F202D"/>
                </a:solidFill>
                <a:latin typeface="微软雅黑"/>
              </a:rPr>
              <a:t>New §2 sections</a:t>
            </a:r>
            <a:endParaRPr sz="13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05123" y="3794760"/>
            <a:ext cx="2499283" cy="914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555868"/>
                </a:solidFill>
                <a:latin typeface="微软雅黑"/>
              </a:rPr>
              <a:t>multi-device · sessions</a:t>
            </a:r>
            <a:endParaRPr sz="1000">
              <a:solidFill>
                <a:srgbClr val="555868"/>
              </a:solidFill>
              <a:latin typeface="微软雅黑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555868"/>
                </a:solidFill>
                <a:latin typeface="微软雅黑"/>
              </a:rPr>
              <a:t>middleware · aliases</a:t>
            </a:r>
            <a:endParaRPr sz="100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87287" y="2011680"/>
            <a:ext cx="2499283" cy="12801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200" b="0">
                <a:solidFill>
                  <a:srgbClr val="0C676B"/>
                </a:solidFill>
                <a:latin typeface="Calibri"/>
              </a:rPr>
              <a:t>5</a:t>
            </a:r>
            <a:endParaRPr sz="9200" b="0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87287" y="3383280"/>
            <a:ext cx="2499283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300" b="1">
                <a:solidFill>
                  <a:srgbClr val="1F202D"/>
                </a:solidFill>
                <a:latin typeface="微软雅黑"/>
              </a:rPr>
              <a:t>New appendices</a:t>
            </a:r>
            <a:endParaRPr sz="13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87287" y="3794760"/>
            <a:ext cx="2499283" cy="914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555868"/>
                </a:solidFill>
                <a:latin typeface="微软雅黑"/>
              </a:rPr>
              <a:t>H · I · J · K · L</a:t>
            </a:r>
            <a:endParaRPr sz="100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69451" y="2011680"/>
            <a:ext cx="2499283" cy="12801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200" b="0">
                <a:solidFill>
                  <a:srgbClr val="A61E24"/>
                </a:solidFill>
                <a:latin typeface="Calibri"/>
              </a:rPr>
              <a:t>0</a:t>
            </a:r>
            <a:endParaRPr sz="9200" b="0">
              <a:solidFill>
                <a:srgbClr val="A61E24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69451" y="3383280"/>
            <a:ext cx="2499283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300" b="1">
                <a:solidFill>
                  <a:srgbClr val="1F202D"/>
                </a:solidFill>
                <a:latin typeface="微软雅黑"/>
              </a:rPr>
              <a:t>Breaking changes</a:t>
            </a:r>
            <a:endParaRPr sz="13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69451" y="3794760"/>
            <a:ext cx="2499283" cy="914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555868"/>
                </a:solidFill>
                <a:latin typeface="微软雅黑"/>
              </a:rPr>
              <a:t>strict superset of v2</a:t>
            </a:r>
            <a:endParaRPr sz="1000">
              <a:solidFill>
                <a:srgbClr val="555868"/>
              </a:solidFill>
              <a:latin typeface="微软雅黑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555868"/>
                </a:solidFill>
                <a:latin typeface="微软雅黑"/>
              </a:rPr>
              <a:t>opt-in per field</a:t>
            </a:r>
            <a:endParaRPr sz="100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2960" y="548640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采纳方式：逐字段渐进 — v2 tool 不写 device / distributed / middleware / aliases 字段，取默认值 = v2 行为。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03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CE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CE7A00"/>
                </a:solidFill>
                <a:latin typeface="Calibri"/>
              </a:rPr>
              <a:t>THE PROBLEM</a:t>
            </a:r>
            <a:endParaRPr sz="1000" b="1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Agent 生态的四维碎片化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不是在一张互操作地图上扩张，而是在四个正交维度各自爆炸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4864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0">
                <a:solidFill>
                  <a:srgbClr val="CE7A00"/>
                </a:solidFill>
                <a:latin typeface="Calibri"/>
              </a:rPr>
              <a:t>01</a:t>
            </a:r>
            <a:endParaRPr sz="2200" b="0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1947672"/>
            <a:ext cx="164592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1F202D"/>
                </a:solidFill>
                <a:latin typeface="微软雅黑"/>
              </a:rPr>
              <a:t>OS</a:t>
            </a:r>
            <a:endParaRPr sz="17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91840" y="1993392"/>
            <a:ext cx="841248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0">
                <a:solidFill>
                  <a:srgbClr val="555868"/>
                </a:solidFill>
                <a:latin typeface="微软雅黑"/>
              </a:rPr>
              <a:t>iOS  ·  Android  ·  HarmonyOS  ·  Linux  ·  macOS  ·  Windows</a:t>
            </a:r>
            <a:endParaRPr sz="12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251460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54864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0">
                <a:solidFill>
                  <a:srgbClr val="CE7A00"/>
                </a:solidFill>
                <a:latin typeface="Calibri"/>
              </a:rPr>
              <a:t>02</a:t>
            </a:r>
            <a:endParaRPr sz="2200" b="0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63040" y="2724912"/>
            <a:ext cx="164592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1F202D"/>
                </a:solidFill>
                <a:latin typeface="微软雅黑"/>
              </a:rPr>
              <a:t>Agent</a:t>
            </a:r>
            <a:endParaRPr sz="17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91840" y="2770632"/>
            <a:ext cx="841248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0">
                <a:solidFill>
                  <a:srgbClr val="555868"/>
                </a:solidFill>
                <a:latin typeface="微软雅黑"/>
              </a:rPr>
              <a:t>Claude Code  ·  Codex  ·  Cursor  ·  LangChain  ·  OpenClaw  ·  ...</a:t>
            </a:r>
            <a:endParaRPr sz="12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22960" y="329184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54864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0">
                <a:solidFill>
                  <a:srgbClr val="CE7A00"/>
                </a:solidFill>
                <a:latin typeface="Calibri"/>
              </a:rPr>
              <a:t>03</a:t>
            </a:r>
            <a:endParaRPr sz="2200" b="0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63040" y="3502151"/>
            <a:ext cx="164592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1F202D"/>
                </a:solidFill>
                <a:latin typeface="微软雅黑"/>
              </a:rPr>
              <a:t>Vendor</a:t>
            </a:r>
            <a:endParaRPr sz="17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91840" y="3547872"/>
            <a:ext cx="841248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0">
                <a:solidFill>
                  <a:srgbClr val="555868"/>
                </a:solidFill>
                <a:latin typeface="微软雅黑"/>
              </a:rPr>
              <a:t>Anthropic MCP  ·  OpenAI Functions  ·  Apple App Intents  ·  HMS Kits</a:t>
            </a:r>
            <a:endParaRPr sz="12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2960" y="406908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54864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0">
                <a:solidFill>
                  <a:srgbClr val="CE7A00"/>
                </a:solidFill>
                <a:latin typeface="Calibri"/>
              </a:rPr>
              <a:t>04</a:t>
            </a:r>
            <a:endParaRPr sz="2200" b="0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63040" y="4279392"/>
            <a:ext cx="164592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1F202D"/>
                </a:solidFill>
                <a:latin typeface="微软雅黑"/>
              </a:rPr>
              <a:t>Stack</a:t>
            </a:r>
            <a:endParaRPr sz="17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91840" y="4325112"/>
            <a:ext cx="841248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0">
                <a:solidFill>
                  <a:srgbClr val="555868"/>
                </a:solidFill>
                <a:latin typeface="微软雅黑"/>
              </a:rPr>
              <a:t>Python  ·  TypeScript  ·  Rust  ·  Swift  ·  Kotlin  ·  Java  ·  ArkTS</a:t>
            </a:r>
            <a:endParaRPr sz="12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22960" y="530352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F202D"/>
                </a:solidFill>
                <a:latin typeface="微软雅黑"/>
              </a:rPr>
              <a:t>"帮我开灯并看看昨晚睡眠" — 今天没有任何单一方案可以完整实现。</a:t>
            </a:r>
            <a:endParaRPr sz="12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60" y="5760720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这不是渐进改善能解决的，是基础设施缺失的结果。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04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CE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CE7A00"/>
                </a:solidFill>
                <a:latin typeface="Calibri"/>
              </a:rPr>
              <a:t>CASE · Lily</a:t>
            </a:r>
            <a:endParaRPr sz="1000" b="1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今天三种方案都失败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"明早 7 点开灯，昨晚睡眠怎么样？" — 跨 iOS / 米家 Android / 华为 HarmonyOS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01168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59436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E7A00"/>
                          </a:solidFill>
                          <a:latin typeface="Calibri"/>
                        </a:rPr>
                        <a:t>方案</a:t>
                      </a:r>
                      <a:endParaRPr sz="1100" b="1">
                        <a:solidFill>
                          <a:srgbClr val="CE7A00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E7A00"/>
                          </a:solidFill>
                          <a:latin typeface="Calibri"/>
                        </a:rPr>
                        <a:t>覆盖率</a:t>
                      </a:r>
                      <a:endParaRPr sz="1100" b="1">
                        <a:solidFill>
                          <a:srgbClr val="CE7A00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E7A00"/>
                          </a:solidFill>
                          <a:latin typeface="Calibri"/>
                        </a:rPr>
                        <a:t>失败点</a:t>
                      </a:r>
                      <a:endParaRPr sz="1100" b="1">
                        <a:solidFill>
                          <a:srgbClr val="CE7A00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F4E"/>
                          </a:solidFill>
                          <a:latin typeface="微软雅黑"/>
                        </a:rPr>
                        <a:t>Life 1  ·  MCP only</a:t>
                      </a:r>
                      <a:endParaRPr sz="12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02D"/>
                          </a:solidFill>
                          <a:latin typeface="微软雅黑"/>
                        </a:rPr>
                        <a:t>~30%</a:t>
                      </a:r>
                      <a:endParaRPr sz="12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02D"/>
                          </a:solidFill>
                          <a:latin typeface="微软雅黑"/>
                        </a:rPr>
                        <a:t>米家 Android SDK · HealthKit 平台隔离 · 移动 MCP 受限</a:t>
                      </a:r>
                      <a:endParaRPr sz="12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F4E"/>
                          </a:solidFill>
                          <a:latin typeface="微软雅黑"/>
                        </a:rPr>
                        <a:t>Life 2  ·  OpenAI Functions only</a:t>
                      </a:r>
                      <a:endParaRPr sz="12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02D"/>
                          </a:solidFill>
                          <a:latin typeface="微软雅黑"/>
                        </a:rPr>
                        <a:t>~40%</a:t>
                      </a:r>
                      <a:endParaRPr sz="12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02D"/>
                          </a:solidFill>
                          <a:latin typeface="微软雅黑"/>
                        </a:rPr>
                        <a:t>只云 REST · 本地控制不行 · Native SDK 全无</a:t>
                      </a:r>
                      <a:endParaRPr sz="12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F4E"/>
                          </a:solidFill>
                          <a:latin typeface="微软雅黑"/>
                        </a:rPr>
                        <a:t>Life 3  ·  每 app 一个 agent</a:t>
                      </a:r>
                      <a:endParaRPr sz="12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02D"/>
                          </a:solidFill>
                          <a:latin typeface="微软雅黑"/>
                        </a:rPr>
                        <a:t>碎片化</a:t>
                      </a:r>
                      <a:endParaRPr sz="12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02D"/>
                          </a:solidFill>
                          <a:latin typeface="微软雅黑"/>
                        </a:rPr>
                        <a:t>用户登 5 个 app · 5 个 agent 互不认识</a:t>
                      </a:r>
                      <a:endParaRPr sz="12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420624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F202D"/>
                </a:solidFill>
                <a:latin typeface="微软雅黑"/>
              </a:rPr>
              <a:t>三个痛点驱动 ATD 设计：</a:t>
            </a:r>
            <a:endParaRPr sz="12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3657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1">
                <a:solidFill>
                  <a:srgbClr val="CE7A00"/>
                </a:solidFill>
                <a:latin typeface="Calibri"/>
              </a:rPr>
              <a:t>A</a:t>
            </a:r>
            <a:endParaRPr sz="1300" b="1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720" y="4846320"/>
            <a:ext cx="21945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F202D"/>
                </a:solidFill>
                <a:latin typeface="微软雅黑"/>
              </a:rPr>
              <a:t>Lock-in</a:t>
            </a:r>
            <a:endParaRPr sz="12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74720" y="4846320"/>
            <a:ext cx="7772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选 MCP 还是 OpenAI 都是错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5184648"/>
            <a:ext cx="3657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1">
                <a:solidFill>
                  <a:srgbClr val="CE7A00"/>
                </a:solidFill>
                <a:latin typeface="Calibri"/>
              </a:rPr>
              <a:t>B</a:t>
            </a:r>
            <a:endParaRPr sz="1300" b="1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5184648"/>
            <a:ext cx="21945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F202D"/>
                </a:solidFill>
                <a:latin typeface="微软雅黑"/>
              </a:rPr>
              <a:t>Cost</a:t>
            </a:r>
            <a:endParaRPr sz="12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74720" y="5184648"/>
            <a:ext cx="7772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每 token 都为重复描述工具付费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5522976"/>
            <a:ext cx="3657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1">
                <a:solidFill>
                  <a:srgbClr val="CE7A00"/>
                </a:solidFill>
                <a:latin typeface="Calibri"/>
              </a:rPr>
              <a:t>C</a:t>
            </a:r>
            <a:endParaRPr sz="1300" b="1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88720" y="5522976"/>
            <a:ext cx="21945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F202D"/>
                </a:solidFill>
                <a:latin typeface="微软雅黑"/>
              </a:rPr>
              <a:t>Context</a:t>
            </a:r>
            <a:endParaRPr sz="12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720" y="5522976"/>
            <a:ext cx="7772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所有协议要求全部 tool 装入 context — 1000+ 注定爆炸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5861304"/>
            <a:ext cx="3657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1">
                <a:solidFill>
                  <a:srgbClr val="CE7A00"/>
                </a:solidFill>
                <a:latin typeface="Calibri"/>
              </a:rPr>
              <a:t>D</a:t>
            </a:r>
            <a:endParaRPr sz="1300" b="1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8720" y="5861304"/>
            <a:ext cx="21945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F202D"/>
                </a:solidFill>
                <a:latin typeface="微软雅黑"/>
              </a:rPr>
              <a:t>Fragmentation</a:t>
            </a:r>
            <a:endParaRPr sz="12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0" y="5861304"/>
            <a:ext cx="7772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一个工具要实现 5 次（最严重）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05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CE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CE7A00"/>
                </a:solidFill>
                <a:latin typeface="Calibri"/>
              </a:rPr>
              <a:t>HISTORICAL LENS</a:t>
            </a:r>
            <a:endParaRPr sz="1000" b="1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第四次范式跃迁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能力层突破 → 基础设施标准化 → 生态爆发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0116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560320"/>
                <a:gridCol w="3291840"/>
                <a:gridCol w="3200400"/>
              </a:tblGrid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E7A00"/>
                          </a:solidFill>
                          <a:latin typeface="Calibri"/>
                        </a:rPr>
                        <a:t>跃迁</a:t>
                      </a:r>
                      <a:endParaRPr sz="1200" b="1">
                        <a:solidFill>
                          <a:srgbClr val="CE7A00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E7A00"/>
                          </a:solidFill>
                          <a:latin typeface="Calibri"/>
                        </a:rPr>
                        <a:t>能力层</a:t>
                      </a:r>
                      <a:endParaRPr sz="1200" b="1">
                        <a:solidFill>
                          <a:srgbClr val="CE7A00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E7A00"/>
                          </a:solidFill>
                          <a:latin typeface="Calibri"/>
                        </a:rPr>
                        <a:t>基础设施</a:t>
                      </a:r>
                      <a:endParaRPr sz="1200" b="1">
                        <a:solidFill>
                          <a:srgbClr val="CE7A00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E7A00"/>
                          </a:solidFill>
                          <a:latin typeface="Calibri"/>
                        </a:rPr>
                        <a:t>结果</a:t>
                      </a:r>
                      <a:endParaRPr sz="1200" b="1">
                        <a:solidFill>
                          <a:srgbClr val="CE7A00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2F4E"/>
                          </a:solidFill>
                          <a:latin typeface="微软雅黑"/>
                        </a:rPr>
                        <a:t>第一次</a:t>
                      </a:r>
                      <a:endParaRPr sz="13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02D"/>
                          </a:solidFill>
                          <a:latin typeface="微软雅黑"/>
                        </a:rPr>
                        <a:t>晶体管 (1950s)</a:t>
                      </a:r>
                      <a:endParaRPr sz="13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02D"/>
                          </a:solidFill>
                          <a:latin typeface="微软雅黑"/>
                        </a:rPr>
                        <a:t>Fortran / COBOL</a:t>
                      </a:r>
                      <a:endParaRPr sz="13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02D"/>
                          </a:solidFill>
                          <a:latin typeface="微软雅黑"/>
                        </a:rPr>
                        <a:t>计算机工业</a:t>
                      </a:r>
                      <a:endParaRPr sz="13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2F4E"/>
                          </a:solidFill>
                          <a:latin typeface="微软雅黑"/>
                        </a:rPr>
                        <a:t>第二次</a:t>
                      </a:r>
                      <a:endParaRPr sz="13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02D"/>
                          </a:solidFill>
                          <a:latin typeface="微软雅黑"/>
                        </a:rPr>
                        <a:t>集成电路 (1970s)</a:t>
                      </a:r>
                      <a:endParaRPr sz="13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02D"/>
                          </a:solidFill>
                          <a:latin typeface="微软雅黑"/>
                        </a:rPr>
                        <a:t>POSIX (1988)</a:t>
                      </a:r>
                      <a:endParaRPr sz="13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02D"/>
                          </a:solidFill>
                          <a:latin typeface="微软雅黑"/>
                        </a:rPr>
                        <a:t>Unix 世代软件</a:t>
                      </a:r>
                      <a:endParaRPr sz="13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2F4E"/>
                          </a:solidFill>
                          <a:latin typeface="微软雅黑"/>
                        </a:rPr>
                        <a:t>第三次</a:t>
                      </a:r>
                      <a:endParaRPr sz="13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02D"/>
                          </a:solidFill>
                          <a:latin typeface="微软雅黑"/>
                        </a:rPr>
                        <a:t>互联网 (1990s)</a:t>
                      </a:r>
                      <a:endParaRPr sz="13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02D"/>
                          </a:solidFill>
                          <a:latin typeface="微软雅黑"/>
                        </a:rPr>
                        <a:t>TCP/IP · SQL · HTML</a:t>
                      </a:r>
                      <a:endParaRPr sz="13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02D"/>
                          </a:solidFill>
                          <a:latin typeface="微软雅黑"/>
                        </a:rPr>
                        <a:t>Web + Cloud 生态</a:t>
                      </a:r>
                      <a:endParaRPr sz="13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2F4E"/>
                          </a:solidFill>
                          <a:latin typeface="微软雅黑"/>
                        </a:rPr>
                        <a:t>第四次</a:t>
                      </a:r>
                      <a:endParaRPr sz="13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02D"/>
                          </a:solidFill>
                          <a:latin typeface="微软雅黑"/>
                        </a:rPr>
                        <a:t>LLM (2022+)</a:t>
                      </a:r>
                      <a:endParaRPr sz="13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02D"/>
                          </a:solidFill>
                          <a:latin typeface="微软雅黑"/>
                        </a:rPr>
                        <a:t>ATD ?</a:t>
                      </a:r>
                      <a:endParaRPr sz="13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02D"/>
                          </a:solidFill>
                          <a:latin typeface="微软雅黑"/>
                        </a:rPr>
                        <a:t>Agent 生态 ？</a:t>
                      </a:r>
                      <a:endParaRPr sz="13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525780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1">
                <a:solidFill>
                  <a:srgbClr val="1F202D"/>
                </a:solidFill>
                <a:latin typeface="微软雅黑"/>
              </a:rPr>
              <a:t>赢家的三个共同特征：</a:t>
            </a:r>
            <a:endParaRPr sz="13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515600" cy="9144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122F4E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协议而非产品  —  没有商业绑定</a:t>
            </a:r>
            <a:endParaRPr sz="1100">
              <a:solidFill>
                <a:srgbClr val="1F202D"/>
              </a:solidFill>
              <a:latin typeface="微软雅黑"/>
            </a:endParaRP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122F4E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向后兼容现有生态  —  MCP / OpenAI Functions / LangChain 作为 binding 桥接而非取代</a:t>
            </a:r>
            <a:endParaRPr sz="1100">
              <a:solidFill>
                <a:srgbClr val="1F202D"/>
              </a:solidFill>
              <a:latin typeface="微软雅黑"/>
            </a:endParaRP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122F4E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多利益方治理  —  不由单一厂商主导利益分配</a:t>
            </a:r>
            <a:endParaRPr sz="110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06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THE SOLUTION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ATD 的本质  ·  五层架构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让任何工具、在任何平台、可以被任何 agent、通过任何框架调用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1645920" cy="457200"/>
          </a:xfrm>
          <a:prstGeom prst="round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1200" b="1">
                <a:solidFill>
                  <a:srgbClr val="FAFAFA"/>
                </a:solidFill>
                <a:latin typeface="微软雅黑"/>
              </a:rPr>
              <a:t>Agent</a:t>
            </a:r>
            <a:endParaRPr sz="1200" b="1">
              <a:solidFill>
                <a:srgbClr val="FAFAFA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51760" y="1965960"/>
            <a:ext cx="91440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Any Agent Framework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51760" y="2331720"/>
            <a:ext cx="914400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Claude Code  ·  Codex  ·  Cursor  ·  LangChain  ·  OpenClaw  ·  Custom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645920" y="2514600"/>
            <a:ext cx="0" cy="182880"/>
          </a:xfrm>
          <a:prstGeom prst="line">
            <a:avLst/>
          </a:prstGeom>
          <a:ln w="12700">
            <a:solidFill>
              <a:srgbClr val="9093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2715768"/>
            <a:ext cx="1645920" cy="457200"/>
          </a:xfrm>
          <a:prstGeom prst="round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1200" b="1">
                <a:solidFill>
                  <a:srgbClr val="FAFAFA"/>
                </a:solidFill>
                <a:latin typeface="微软雅黑"/>
              </a:rPr>
              <a:t>Client SDK</a:t>
            </a:r>
            <a:endParaRPr sz="1200" b="1">
              <a:solidFill>
                <a:srgbClr val="FAFAFA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51760" y="2715768"/>
            <a:ext cx="91440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discover / describe / call / session / cancel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51760" y="3081528"/>
            <a:ext cx="914400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Rust reference  ·  Python  ·  TypeScript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645920" y="3264408"/>
            <a:ext cx="0" cy="182880"/>
          </a:xfrm>
          <a:prstGeom prst="line">
            <a:avLst/>
          </a:prstGeom>
          <a:ln w="12700">
            <a:solidFill>
              <a:srgbClr val="9093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3465576"/>
            <a:ext cx="1645920" cy="457200"/>
          </a:xfrm>
          <a:prstGeom prst="round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1200" b="1">
                <a:solidFill>
                  <a:srgbClr val="FAFAFA"/>
                </a:solidFill>
                <a:latin typeface="微软雅黑"/>
              </a:rPr>
              <a:t>Dispatch</a:t>
            </a:r>
            <a:endParaRPr sz="1200" b="1">
              <a:solidFill>
                <a:srgbClr val="FAFAFA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51760" y="3465576"/>
            <a:ext cx="91440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Routing · Auth · Capacity · Middleware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51760" y="3831336"/>
            <a:ext cx="914400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Device affinity  ·  UCAN  ·  H/W/C tier  ·  Result middleware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1645920" y="4014216"/>
            <a:ext cx="0" cy="182880"/>
          </a:xfrm>
          <a:prstGeom prst="line">
            <a:avLst/>
          </a:prstGeom>
          <a:ln w="12700">
            <a:solidFill>
              <a:srgbClr val="9093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" y="4215384"/>
            <a:ext cx="1645920" cy="457200"/>
          </a:xfrm>
          <a:prstGeom prst="round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1200" b="1">
                <a:solidFill>
                  <a:srgbClr val="FAFAFA"/>
                </a:solidFill>
                <a:latin typeface="微软雅黑"/>
              </a:rPr>
              <a:t>Bindings</a:t>
            </a:r>
            <a:endParaRPr sz="1200" b="1">
              <a:solidFill>
                <a:srgbClr val="FAFAFA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51760" y="4215384"/>
            <a:ext cx="91440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CLI · MCP · REST · AppFunction[]  ·  Distributed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51760" y="4581144"/>
            <a:ext cx="914400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按 (device_type × vendor × platform) 三维索引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1645920" y="4764024"/>
            <a:ext cx="0" cy="182880"/>
          </a:xfrm>
          <a:prstGeom prst="line">
            <a:avLst/>
          </a:prstGeom>
          <a:ln w="12700">
            <a:solidFill>
              <a:srgbClr val="9093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2960" y="4965192"/>
            <a:ext cx="1645920" cy="457200"/>
          </a:xfrm>
          <a:prstGeom prst="round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1200" b="1">
                <a:solidFill>
                  <a:srgbClr val="FAFAFA"/>
                </a:solidFill>
                <a:latin typeface="微软雅黑"/>
              </a:rPr>
              <a:t>Tools</a:t>
            </a:r>
            <a:endParaRPr sz="1200" b="1">
              <a:solidFill>
                <a:srgbClr val="FAFAFA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651760" y="4965192"/>
            <a:ext cx="91440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Tool Universe × 7 Device Classes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51760" y="5330952"/>
            <a:ext cx="914400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ffmpeg · 米家 · 华为 HMS · Jira · HealthKit · Skills · ...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07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LAYERING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ATD × Skills  —  不是替代，是底座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SKILL.md (agentskills.io) 已被 26+ 平台采纳 · ATD 是 skill 执行的底座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8288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000" b="0">
                <a:solidFill>
                  <a:srgbClr val="122F4E"/>
                </a:solidFill>
                <a:latin typeface="Calibri"/>
              </a:rPr>
              <a:t>Agent</a:t>
            </a:r>
            <a:endParaRPr sz="20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2011680"/>
            <a:ext cx="32004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1">
                <a:solidFill>
                  <a:srgbClr val="1F202D"/>
                </a:solidFill>
                <a:latin typeface="Calibri"/>
              </a:rPr>
              <a:t>Application</a:t>
            </a:r>
            <a:endParaRPr sz="1300" b="1">
              <a:solidFill>
                <a:srgbClr val="1F202D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0" y="2039112"/>
            <a:ext cx="566928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0">
                <a:solidFill>
                  <a:srgbClr val="555868"/>
                </a:solidFill>
                <a:latin typeface="微软雅黑"/>
              </a:rPr>
              <a:t>Django / Flask</a:t>
            </a:r>
            <a:endParaRPr sz="13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761488"/>
            <a:ext cx="18288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000" b="0">
                <a:solidFill>
                  <a:srgbClr val="0C676B"/>
                </a:solidFill>
                <a:latin typeface="Calibri"/>
              </a:rPr>
              <a:t>Skills</a:t>
            </a:r>
            <a:endParaRPr sz="2000" b="0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0" y="2761488"/>
            <a:ext cx="32004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1">
                <a:solidFill>
                  <a:srgbClr val="1F202D"/>
                </a:solidFill>
                <a:latin typeface="Calibri"/>
              </a:rPr>
              <a:t>SKILL.md</a:t>
            </a:r>
            <a:endParaRPr sz="1300" b="1">
              <a:solidFill>
                <a:srgbClr val="1F202D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2788920"/>
            <a:ext cx="566928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0">
                <a:solidFill>
                  <a:srgbClr val="555868"/>
                </a:solidFill>
                <a:latin typeface="微软雅黑"/>
              </a:rPr>
              <a:t>Python stdlib  ·  剧本层</a:t>
            </a:r>
            <a:endParaRPr sz="13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511296"/>
            <a:ext cx="18288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000" b="0">
                <a:solidFill>
                  <a:srgbClr val="CE7A00"/>
                </a:solidFill>
                <a:latin typeface="Calibri"/>
              </a:rPr>
              <a:t>ATD</a:t>
            </a:r>
            <a:endParaRPr sz="2000" b="0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0" y="3511296"/>
            <a:ext cx="32004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1">
                <a:solidFill>
                  <a:srgbClr val="1F202D"/>
                </a:solidFill>
                <a:latin typeface="Calibri"/>
              </a:rPr>
              <a:t>Protocol</a:t>
            </a:r>
            <a:endParaRPr sz="1300" b="1">
              <a:solidFill>
                <a:srgbClr val="1F202D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0" y="3538728"/>
            <a:ext cx="566928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0">
                <a:solidFill>
                  <a:srgbClr val="555868"/>
                </a:solidFill>
                <a:latin typeface="微软雅黑"/>
              </a:rPr>
              <a:t>POSIX  ·  原子能力层</a:t>
            </a:r>
            <a:endParaRPr sz="13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261104"/>
            <a:ext cx="18288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000" b="0">
                <a:solidFill>
                  <a:srgbClr val="A61E24"/>
                </a:solidFill>
                <a:latin typeface="Calibri"/>
              </a:rPr>
              <a:t>Bindings</a:t>
            </a:r>
            <a:endParaRPr sz="2000" b="0">
              <a:solidFill>
                <a:srgbClr val="A61E24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3200" y="4261104"/>
            <a:ext cx="32004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1">
                <a:solidFill>
                  <a:srgbClr val="1F202D"/>
                </a:solidFill>
                <a:latin typeface="Calibri"/>
              </a:rPr>
              <a:t>Transport</a:t>
            </a:r>
            <a:endParaRPr sz="1300" b="1">
              <a:solidFill>
                <a:srgbClr val="1F202D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4288536"/>
            <a:ext cx="566928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0">
                <a:solidFill>
                  <a:srgbClr val="555868"/>
                </a:solidFill>
                <a:latin typeface="微软雅黑"/>
              </a:rPr>
              <a:t>CPU ISA  ·  CLI / MCP / REST / AppFunction</a:t>
            </a:r>
            <a:endParaRPr sz="13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2960" y="521208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600" b="0">
                <a:solidFill>
                  <a:srgbClr val="1F202D"/>
                </a:solidFill>
                <a:latin typeface="微软雅黑"/>
              </a:rPr>
              <a:t>ATD 的成功不需要 Skills 的失败</a:t>
            </a:r>
            <a:endParaRPr sz="16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555868"/>
                </a:solidFill>
                <a:latin typeface="微软雅黑"/>
              </a:rPr>
              <a:t>共同敌人是分裂的 tool 生态。两者的采纳互相强化。</a:t>
            </a:r>
            <a:endParaRPr sz="1200" b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08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0C676B"/>
                </a:solidFill>
                <a:latin typeface="Calibri"/>
              </a:rPr>
              <a:t>NEW · §2.5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Multi-Device Dispatch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v2 粒度到 OS；但 watch / earbuds / car 不是"小号手机"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三个新概念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2011680" cy="502920"/>
          </a:xfrm>
          <a:prstGeom prst="round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1200" b="1">
                <a:solidFill>
                  <a:srgbClr val="FAFAFA"/>
                </a:solidFill>
                <a:latin typeface="微软雅黑"/>
              </a:rPr>
              <a:t>Device Type</a:t>
            </a:r>
            <a:endParaRPr sz="1200" b="1">
              <a:solidFill>
                <a:srgbClr val="FAFAFA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17520" y="2514600"/>
            <a:ext cx="30175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10 canonical enum + vendor:ext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2011680" cy="502920"/>
          </a:xfrm>
          <a:prstGeom prst="roundRect">
            <a:avLst/>
          </a:prstGeom>
          <a:solidFill>
            <a:srgbClr val="0C6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1200" b="1">
                <a:solidFill>
                  <a:srgbClr val="FAFAFA"/>
                </a:solidFill>
                <a:latin typeface="微软雅黑"/>
              </a:rPr>
              <a:t>Capability Tags</a:t>
            </a:r>
            <a:endParaRPr sz="1200" b="1">
              <a:solidFill>
                <a:srgbClr val="FAFAFA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17520" y="3291840"/>
            <a:ext cx="30175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20-item vocab · sensors / ui_modes / transport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3931920"/>
            <a:ext cx="2011680" cy="502920"/>
          </a:xfrm>
          <a:prstGeom prst="roundRect">
            <a:avLst/>
          </a:prstGeom>
          <a:solidFill>
            <a:srgbClr val="CE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1200" b="1">
                <a:solidFill>
                  <a:srgbClr val="FAFAFA"/>
                </a:solidFill>
                <a:latin typeface="微软雅黑"/>
              </a:rPr>
              <a:t>Device Affinity</a:t>
            </a:r>
            <a:endParaRPr sz="1200" b="1">
              <a:solidFill>
                <a:srgbClr val="FAFAFA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17520" y="4069080"/>
            <a:ext cx="30175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preferred · fallback · requires.sensors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39496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Schema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0" y="2331720"/>
            <a:ext cx="5394960" cy="3931920"/>
          </a:xfrm>
          <a:prstGeom prst="rect">
            <a:avLst/>
          </a:prstGeom>
          <a:solidFill>
            <a:srgbClr val="F5F6F8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91440" rtlCol="0" anchor="ctr"/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device: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preferred: [watch]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fallback:  [phone]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requires: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sensors: [heart_rate]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bindings: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appfunction: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- device_type: watch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vendor: huawei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kit: wear_engine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- device_type: watch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vendor: apple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framework: HealthKit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rest: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coverage: sync_only</a:t>
            </a:r>
            <a:endParaRPr sz="100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09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0C676B"/>
                </a:solidFill>
                <a:latin typeface="Calibri"/>
              </a:rPr>
              <a:t>NEW · §2.6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Distributed Sessions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跨设备 agent 流动：HarmonyOS App Continuation / Apple Handoff 的协议抽象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3393338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800" b="0">
                <a:solidFill>
                  <a:srgbClr val="122F4E"/>
                </a:solidFill>
                <a:latin typeface="Consolas"/>
              </a:rPr>
              <a:t>migrate(target_device)</a:t>
            </a:r>
            <a:endParaRPr sz="1800" b="0">
              <a:solidFill>
                <a:srgbClr val="122F4E"/>
              </a:solidFill>
              <a:latin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2606039"/>
            <a:ext cx="3393338" cy="1371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3393338" cy="8229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0">
                <a:solidFill>
                  <a:srgbClr val="555868"/>
                </a:solidFill>
                <a:latin typeface="微软雅黑"/>
              </a:rPr>
              <a:t>single-way</a:t>
            </a:r>
            <a:endParaRPr sz="1200" b="0">
              <a:solidFill>
                <a:srgbClr val="555868"/>
              </a:solidFill>
              <a:latin typeface="微软雅黑"/>
            </a:endParaRPr>
          </a:p>
          <a:p>
            <a:pPr algn="l"/>
            <a:r>
              <a:rPr sz="1200" b="0">
                <a:solidFill>
                  <a:srgbClr val="555868"/>
                </a:solidFill>
                <a:latin typeface="微软雅黑"/>
              </a:rPr>
              <a:t>原设备失效</a:t>
            </a:r>
            <a:endParaRPr sz="12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99178" y="2103120"/>
            <a:ext cx="3393338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800" b="0">
                <a:solidFill>
                  <a:srgbClr val="0C676B"/>
                </a:solidFill>
                <a:latin typeface="Consolas"/>
              </a:rPr>
              <a:t>fork(target_device)</a:t>
            </a:r>
            <a:endParaRPr sz="1800" b="0">
              <a:solidFill>
                <a:srgbClr val="0C676B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99178" y="2606039"/>
            <a:ext cx="3393338" cy="13716"/>
          </a:xfrm>
          <a:prstGeom prst="rect">
            <a:avLst/>
          </a:prstGeom>
          <a:solidFill>
            <a:srgbClr val="0C6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788920"/>
            <a:ext cx="3393338" cy="8229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0">
                <a:solidFill>
                  <a:srgbClr val="555868"/>
                </a:solidFill>
                <a:latin typeface="微软雅黑"/>
              </a:rPr>
              <a:t>split</a:t>
            </a:r>
            <a:endParaRPr sz="1200" b="0">
              <a:solidFill>
                <a:srgbClr val="555868"/>
              </a:solidFill>
              <a:latin typeface="微软雅黑"/>
            </a:endParaRPr>
          </a:p>
          <a:p>
            <a:pPr algn="l"/>
            <a:r>
              <a:rPr sz="1200" b="0">
                <a:solidFill>
                  <a:srgbClr val="555868"/>
                </a:solidFill>
                <a:latin typeface="微软雅黑"/>
              </a:rPr>
              <a:t>两端独立演化</a:t>
            </a:r>
            <a:endParaRPr sz="12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75396" y="2103120"/>
            <a:ext cx="3393338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800" b="0">
                <a:solidFill>
                  <a:srgbClr val="CE7A00"/>
                </a:solidFill>
                <a:latin typeface="Consolas"/>
              </a:rPr>
              <a:t>handoff(trigger)</a:t>
            </a:r>
            <a:endParaRPr sz="1800" b="0">
              <a:solidFill>
                <a:srgbClr val="CE7A00"/>
              </a:solidFill>
              <a:latin typeface="Consola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75396" y="2606039"/>
            <a:ext cx="3393338" cy="13716"/>
          </a:xfrm>
          <a:prstGeom prst="rect">
            <a:avLst/>
          </a:prstGeom>
          <a:solidFill>
            <a:srgbClr val="CE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5396" y="2788920"/>
            <a:ext cx="3393338" cy="8229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0">
                <a:solidFill>
                  <a:srgbClr val="555868"/>
                </a:solidFill>
                <a:latin typeface="微软雅黑"/>
              </a:rPr>
              <a:t>intent-driven</a:t>
            </a:r>
            <a:endParaRPr sz="1200" b="0">
              <a:solidFill>
                <a:srgbClr val="555868"/>
              </a:solidFill>
              <a:latin typeface="微软雅黑"/>
            </a:endParaRPr>
          </a:p>
          <a:p>
            <a:pPr algn="l"/>
            <a:r>
              <a:rPr sz="1200" b="0">
                <a:solidFill>
                  <a:srgbClr val="555868"/>
                </a:solidFill>
                <a:latin typeface="微软雅黑"/>
              </a:rPr>
              <a:t>user / proximity / auto</a:t>
            </a:r>
            <a:endParaRPr sz="12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" y="420624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1">
                <a:solidFill>
                  <a:srgbClr val="A61E24"/>
                </a:solidFill>
                <a:latin typeface="微软雅黑"/>
              </a:rPr>
              <a:t>安全非可选  ·  Security</a:t>
            </a:r>
            <a:endParaRPr sz="1300" b="1">
              <a:solidFill>
                <a:srgbClr val="A61E24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10515600" cy="1463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A61E24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Capability token 不自动跨设备有效  —  必须 UCAN delegation 重签</a:t>
            </a:r>
            <a:endParaRPr sz="1100">
              <a:solidFill>
                <a:srgbClr val="1F202D"/>
              </a:solidFill>
              <a:latin typeface="微软雅黑"/>
            </a:endParaRP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A61E24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Audit log 必录：{session, from_device, to_device, trigger, ts, delegated_tokens}</a:t>
            </a:r>
            <a:endParaRPr sz="1100">
              <a:solidFill>
                <a:srgbClr val="1F202D"/>
              </a:solidFill>
              <a:latin typeface="微软雅黑"/>
            </a:endParaRP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A61E24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数据分级：PII / health 迁移需用户确认；跨 vendor 迁移 best-effort</a:t>
            </a:r>
            <a:endParaRPr sz="1100">
              <a:solidFill>
                <a:srgbClr val="1F202D"/>
              </a:solidFill>
              <a:latin typeface="微软雅黑"/>
            </a:endParaRP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A61E24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v3.0 推出 migrate / fork / handoff；replicate 推迟 v3.1</a:t>
            </a:r>
            <a:endParaRPr sz="110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10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0C676B"/>
                </a:solidFill>
                <a:latin typeface="Calibri"/>
              </a:rPr>
              <a:t>NEW · §2.7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Result Middleware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吸收 gws Model Armor 模式 — 协议层兜底 injection / PII / context 淹没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2036003" cy="457200"/>
          </a:xfrm>
          <a:prstGeom prst="roundRect">
            <a:avLst/>
          </a:prstGeom>
          <a:solidFill>
            <a:srgbClr val="909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1100" b="1">
                <a:solidFill>
                  <a:srgbClr val="FAFAFA"/>
                </a:solidFill>
                <a:latin typeface="微软雅黑"/>
              </a:rPr>
              <a:t>Tool Result</a:t>
            </a:r>
            <a:endParaRPr sz="1100" b="1">
              <a:solidFill>
                <a:srgbClr val="FAFAFA"/>
              </a:solidFill>
              <a:latin typeface="微软雅黑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858963" y="2240280"/>
            <a:ext cx="91440" cy="0"/>
          </a:xfrm>
          <a:prstGeom prst="line">
            <a:avLst/>
          </a:prstGeom>
          <a:ln w="15240">
            <a:solidFill>
              <a:srgbClr val="9093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50403" y="2011680"/>
            <a:ext cx="2036003" cy="457200"/>
          </a:xfrm>
          <a:prstGeom prst="roundRect">
            <a:avLst/>
          </a:prstGeom>
          <a:solidFill>
            <a:srgbClr val="0C6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1100" b="1">
                <a:solidFill>
                  <a:srgbClr val="FAFAFA"/>
                </a:solidFill>
                <a:latin typeface="微软雅黑"/>
              </a:rPr>
              <a:t>PII Redact</a:t>
            </a:r>
            <a:endParaRPr sz="1100" b="1">
              <a:solidFill>
                <a:srgbClr val="FAFAFA"/>
              </a:solidFill>
              <a:latin typeface="微软雅黑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4986406" y="2240280"/>
            <a:ext cx="91440" cy="0"/>
          </a:xfrm>
          <a:prstGeom prst="line">
            <a:avLst/>
          </a:prstGeom>
          <a:ln w="15240">
            <a:solidFill>
              <a:srgbClr val="9093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7846" y="2011680"/>
            <a:ext cx="2036003" cy="457200"/>
          </a:xfrm>
          <a:prstGeom prst="roundRect">
            <a:avLst/>
          </a:prstGeom>
          <a:solidFill>
            <a:srgbClr val="CE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1100" b="1">
                <a:solidFill>
                  <a:srgbClr val="FAFAFA"/>
                </a:solidFill>
                <a:latin typeface="微软雅黑"/>
              </a:rPr>
              <a:t>Injection Scan</a:t>
            </a:r>
            <a:endParaRPr sz="1100" b="1">
              <a:solidFill>
                <a:srgbClr val="FAFAFA"/>
              </a:solidFill>
              <a:latin typeface="微软雅黑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7113849" y="2240280"/>
            <a:ext cx="91440" cy="0"/>
          </a:xfrm>
          <a:prstGeom prst="line">
            <a:avLst/>
          </a:prstGeom>
          <a:ln w="15240">
            <a:solidFill>
              <a:srgbClr val="9093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05289" y="2011680"/>
            <a:ext cx="2036003" cy="457200"/>
          </a:xfrm>
          <a:prstGeom prst="round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1100" b="1">
                <a:solidFill>
                  <a:srgbClr val="FAFAFA"/>
                </a:solidFill>
                <a:latin typeface="微软雅黑"/>
              </a:rPr>
              <a:t>Trim</a:t>
            </a:r>
            <a:endParaRPr sz="1100" b="1">
              <a:solidFill>
                <a:srgbClr val="FAFAFA"/>
              </a:solidFill>
              <a:latin typeface="微软雅黑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9241292" y="2240280"/>
            <a:ext cx="91440" cy="0"/>
          </a:xfrm>
          <a:prstGeom prst="line">
            <a:avLst/>
          </a:prstGeom>
          <a:ln w="15240">
            <a:solidFill>
              <a:srgbClr val="9093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32732" y="2011680"/>
            <a:ext cx="2036003" cy="457200"/>
          </a:xfrm>
          <a:prstGeom prst="roundRect">
            <a:avLst/>
          </a:prstGeom>
          <a:solidFill>
            <a:srgbClr val="A6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1100" b="1">
                <a:solidFill>
                  <a:srgbClr val="FAFAFA"/>
                </a:solidFill>
                <a:latin typeface="微软雅黑"/>
              </a:rPr>
              <a:t>Agent Context</a:t>
            </a:r>
            <a:endParaRPr sz="1100" b="1">
              <a:solidFill>
                <a:srgbClr val="FAFAFA"/>
              </a:solidFill>
              <a:latin typeface="微软雅黑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22960" y="29260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389120"/>
                <a:gridCol w="310896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C676B"/>
                          </a:solidFill>
                          <a:latin typeface="Calibri"/>
                        </a:rPr>
                        <a:t>Type</a:t>
                      </a:r>
                      <a:endParaRPr sz="1000" b="1">
                        <a:solidFill>
                          <a:srgbClr val="0C676B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C676B"/>
                          </a:solidFill>
                          <a:latin typeface="Calibri"/>
                        </a:rPr>
                        <a:t>作用</a:t>
                      </a:r>
                      <a:endParaRPr sz="1000" b="1">
                        <a:solidFill>
                          <a:srgbClr val="0C676B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C676B"/>
                          </a:solidFill>
                          <a:latin typeface="Calibri"/>
                        </a:rPr>
                        <a:t>模式</a:t>
                      </a:r>
                      <a:endParaRPr sz="1000" b="1">
                        <a:solidFill>
                          <a:srgbClr val="0C676B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pii_redact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字段级 redact（SSN · 电话 · 邮箱 · 地址）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warn · transform · block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prompt_injection_scan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pattern + detector 扫描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warn · block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trim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字符/token/top-items 截断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transform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format_transform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JSON → Markdown · flatten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transform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image_strip_metadata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EXIF GPS · 作者信息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transform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822960" y="585216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合并顺序：server global → tool-level → call-level  ·  失败默认非致命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11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0C676B"/>
                </a:solidFill>
                <a:latin typeface="Calibri"/>
              </a:rPr>
              <a:t>NEW · §2.8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Ergonomic Aliases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吸收 gws helper overlay — 把 verbose tool 变成 LLM 友好 alias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2120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A61E24"/>
                </a:solidFill>
                <a:latin typeface="Calibri"/>
              </a:rPr>
              <a:t>BEFORE  ·  raw tool</a:t>
            </a:r>
            <a:endParaRPr sz="1000" b="1">
              <a:solidFill>
                <a:srgbClr val="A61E24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5212080" cy="2103120"/>
          </a:xfrm>
          <a:prstGeom prst="rect">
            <a:avLst/>
          </a:prstGeom>
          <a:solidFill>
            <a:srgbClr val="F5F6F8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91440" rtlCol="0" anchor="ctr"/>
          <a:lstStyle/>
          <a:p>
            <a:pPr algn="ctr"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gmail.messages.send({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userId: "me",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raw: base64(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"From: ...\r\n" +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"To: ...\r\n" +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"Subject: ...\r\n\r\n" +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body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)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})</a:t>
            </a:r>
            <a:endParaRPr sz="100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52120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AFTER  ·  alias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3680" y="2148840"/>
            <a:ext cx="5212080" cy="2103120"/>
          </a:xfrm>
          <a:prstGeom prst="rect">
            <a:avLst/>
          </a:prstGeom>
          <a:solidFill>
            <a:srgbClr val="F5F6F8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91440" rtlCol="0" anchor="ctr"/>
          <a:lstStyle/>
          <a:p>
            <a:pPr algn="ctr"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gmail.send({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to:      "alice@example.com",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subject: "Hello",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body:    "Hi there"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})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# transform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# raw: { fn: rfc2822_encode, args }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# userId: { literal: "me" }</a:t>
            </a:r>
            <a:endParaRPr sz="100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2960" y="452628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1051560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F202D"/>
                </a:solidFill>
                <a:latin typeface="微软雅黑"/>
              </a:rPr>
              <a:t>关键设计</a:t>
            </a:r>
            <a:endParaRPr sz="12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10515600" cy="1371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0C676B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Transform DSL 白名单：9 个 fn（rfc2822_encode · base64_* · template · url_encode · ...）</a:t>
            </a:r>
            <a:endParaRPr sz="1100">
              <a:solidFill>
                <a:srgbClr val="1F202D"/>
              </a:solidFill>
              <a:latin typeface="微软雅黑"/>
            </a:endParaRP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0C676B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Visibility 三档：preferred · raw_hidden · supplementary</a:t>
            </a:r>
            <a:endParaRPr sz="1100">
              <a:solidFill>
                <a:srgbClr val="1F202D"/>
              </a:solidFill>
              <a:latin typeface="微软雅黑"/>
            </a:endParaRP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0C676B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共享命名空间 + is_alias 元信息 · external overlay 文件可独立演化</a:t>
            </a:r>
            <a:endParaRPr sz="110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12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EVIDENCE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Lily 多设备闭环  ·  v3 决定性证明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v2 写不出来的场景，v3 用协议原语完整表达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962851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800" b="0">
                <a:solidFill>
                  <a:srgbClr val="A61E24"/>
                </a:solidFill>
                <a:latin typeface="Calibri"/>
              </a:rPr>
              <a:t>05:23</a:t>
            </a:r>
            <a:endParaRPr sz="1800" b="0">
              <a:solidFill>
                <a:srgbClr val="A61E24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962851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Watch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962851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Wear Engine</a:t>
            </a:r>
            <a:endParaRPr sz="1000" b="0">
              <a:solidFill>
                <a:srgbClr val="555868"/>
              </a:solidFill>
              <a:latin typeface="微软雅黑"/>
            </a:endParaRPr>
          </a:p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异常检测</a:t>
            </a:r>
            <a:endParaRPr sz="1000" b="0">
              <a:solidFill>
                <a:srgbClr val="555868"/>
              </a:solidFill>
              <a:latin typeface="微软雅黑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785811" y="2743200"/>
            <a:ext cx="182880" cy="0"/>
          </a:xfrm>
          <a:prstGeom prst="line">
            <a:avLst/>
          </a:prstGeom>
          <a:ln w="15240">
            <a:solidFill>
              <a:srgbClr val="9093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68691" y="1920240"/>
            <a:ext cx="1962851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800" b="0">
                <a:solidFill>
                  <a:srgbClr val="122F4E"/>
                </a:solidFill>
                <a:latin typeface="Calibri"/>
              </a:rPr>
              <a:t>07:02</a:t>
            </a:r>
            <a:endParaRPr sz="18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68691" y="2423160"/>
            <a:ext cx="1962851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Phone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68691" y="2834640"/>
            <a:ext cx="1962851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health analyze</a:t>
            </a:r>
            <a:endParaRPr sz="1000" b="0">
              <a:solidFill>
                <a:srgbClr val="555868"/>
              </a:solidFill>
              <a:latin typeface="微软雅黑"/>
            </a:endParaRPr>
          </a:p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reschedule</a:t>
            </a:r>
            <a:endParaRPr sz="1000" b="0">
              <a:solidFill>
                <a:srgbClr val="555868"/>
              </a:solidFill>
              <a:latin typeface="微软雅黑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4931542" y="2743200"/>
            <a:ext cx="182880" cy="0"/>
          </a:xfrm>
          <a:prstGeom prst="line">
            <a:avLst/>
          </a:prstGeom>
          <a:ln w="15240">
            <a:solidFill>
              <a:srgbClr val="9093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14422" y="1920240"/>
            <a:ext cx="1962851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800" b="0">
                <a:solidFill>
                  <a:srgbClr val="CE7A00"/>
                </a:solidFill>
                <a:latin typeface="Calibri"/>
              </a:rPr>
              <a:t>07:14</a:t>
            </a:r>
            <a:endParaRPr sz="1800" b="0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14422" y="2423160"/>
            <a:ext cx="1962851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Earbuds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14422" y="2834640"/>
            <a:ext cx="1962851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TTS 语音</a:t>
            </a:r>
            <a:endParaRPr sz="1000" b="0">
              <a:solidFill>
                <a:srgbClr val="555868"/>
              </a:solidFill>
              <a:latin typeface="微软雅黑"/>
            </a:endParaRPr>
          </a:p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确认</a:t>
            </a:r>
            <a:endParaRPr sz="1000" b="0">
              <a:solidFill>
                <a:srgbClr val="555868"/>
              </a:solidFill>
              <a:latin typeface="微软雅黑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7077273" y="2743200"/>
            <a:ext cx="182880" cy="0"/>
          </a:xfrm>
          <a:prstGeom prst="line">
            <a:avLst/>
          </a:prstGeom>
          <a:ln w="15240">
            <a:solidFill>
              <a:srgbClr val="9093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260153" y="1920240"/>
            <a:ext cx="1962851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800" b="0">
                <a:solidFill>
                  <a:srgbClr val="0C676B"/>
                </a:solidFill>
                <a:latin typeface="Calibri"/>
              </a:rPr>
              <a:t>07:20</a:t>
            </a:r>
            <a:endParaRPr sz="1800" b="0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60153" y="2423160"/>
            <a:ext cx="1962851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Car HMI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60153" y="2834640"/>
            <a:ext cx="1962851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HarmonySpace</a:t>
            </a:r>
            <a:endParaRPr sz="1000" b="0">
              <a:solidFill>
                <a:srgbClr val="555868"/>
              </a:solidFill>
              <a:latin typeface="微软雅黑"/>
            </a:endParaRPr>
          </a:p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驾驶导航</a:t>
            </a:r>
            <a:endParaRPr sz="1000" b="0">
              <a:solidFill>
                <a:srgbClr val="555868"/>
              </a:solidFill>
              <a:latin typeface="微软雅黑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9223004" y="2743200"/>
            <a:ext cx="182880" cy="0"/>
          </a:xfrm>
          <a:prstGeom prst="line">
            <a:avLst/>
          </a:prstGeom>
          <a:ln w="15240">
            <a:solidFill>
              <a:srgbClr val="9093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405884" y="1920240"/>
            <a:ext cx="1962851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800" b="0">
                <a:solidFill>
                  <a:srgbClr val="122F4E"/>
                </a:solidFill>
                <a:latin typeface="Calibri"/>
              </a:rPr>
              <a:t>08:45</a:t>
            </a:r>
            <a:endParaRPr sz="18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05884" y="2423160"/>
            <a:ext cx="1962851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PC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05884" y="2834640"/>
            <a:ext cx="1962851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report gen</a:t>
            </a:r>
            <a:endParaRPr sz="1000" b="0">
              <a:solidFill>
                <a:srgbClr val="555868"/>
              </a:solidFill>
              <a:latin typeface="微软雅黑"/>
            </a:endParaRPr>
          </a:p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大屏渲染</a:t>
            </a:r>
            <a:endParaRPr sz="10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22960" y="393192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F202D"/>
                </a:solidFill>
                <a:latin typeface="微软雅黑"/>
              </a:rPr>
              <a:t>v3 原语在 schema 中的体现：</a:t>
            </a:r>
            <a:endParaRPr sz="1200" b="1">
              <a:solidFill>
                <a:srgbClr val="1F202D"/>
              </a:solidFill>
              <a:latin typeface="微软雅黑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22960" y="452628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6583680"/>
              </a:tblGrid>
              <a:tr h="228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22F4E"/>
                          </a:solidFill>
                          <a:latin typeface="Calibri"/>
                        </a:rPr>
                        <a:t>步骤</a:t>
                      </a:r>
                      <a:endParaRPr sz="900" b="1">
                        <a:solidFill>
                          <a:srgbClr val="122F4E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22F4E"/>
                          </a:solidFill>
                          <a:latin typeface="Calibri"/>
                        </a:rPr>
                        <a:t>v3 原语</a:t>
                      </a:r>
                      <a:endParaRPr sz="900" b="1">
                        <a:solidFill>
                          <a:srgbClr val="122F4E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22F4E"/>
                          </a:solidFill>
                          <a:latin typeface="微软雅黑"/>
                        </a:rPr>
                        <a:t>Watch 本地读心率</a:t>
                      </a:r>
                      <a:endParaRPr sz="10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02D"/>
                          </a:solidFill>
                          <a:latin typeface="微软雅黑"/>
                        </a:rPr>
                        <a:t>device.preferred:[watch] + requires.sensors:[heart_rate]</a:t>
                      </a:r>
                      <a:endParaRPr sz="10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22F4E"/>
                          </a:solidFill>
                          <a:latin typeface="微软雅黑"/>
                        </a:rPr>
                        <a:t>Watch → Phone 事件迁移</a:t>
                      </a:r>
                      <a:endParaRPr sz="10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02D"/>
                          </a:solidFill>
                          <a:latin typeface="微软雅黑"/>
                        </a:rPr>
                        <a:t>session.handoff(trigger=auto_on_event)</a:t>
                      </a:r>
                      <a:endParaRPr sz="10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22F4E"/>
                          </a:solidFill>
                          <a:latin typeface="微软雅黑"/>
                        </a:rPr>
                        <a:t>Phone → Earbuds 语音</a:t>
                      </a:r>
                      <a:endParaRPr sz="10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02D"/>
                          </a:solidFill>
                          <a:latin typeface="微软雅黑"/>
                        </a:rPr>
                        <a:t>audio-stream control plane (§8.3)</a:t>
                      </a:r>
                      <a:endParaRPr sz="10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22F4E"/>
                          </a:solidFill>
                          <a:latin typeface="微软雅黑"/>
                        </a:rPr>
                        <a:t>耳机结果 injection scan</a:t>
                      </a:r>
                      <a:endParaRPr sz="10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02D"/>
                          </a:solidFill>
                          <a:latin typeface="微软雅黑"/>
                        </a:rPr>
                        <a:t>result_middleware.prompt_injection_scan</a:t>
                      </a:r>
                      <a:endParaRPr sz="10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22F4E"/>
                          </a:solidFill>
                          <a:latin typeface="微软雅黑"/>
                        </a:rPr>
                        <a:t>Phone → Car proximity handoff</a:t>
                      </a:r>
                      <a:endParaRPr sz="10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02D"/>
                          </a:solidFill>
                          <a:latin typeface="微软雅黑"/>
                        </a:rPr>
                        <a:t>session.handoff(trigger=proximity) + DSoftBus</a:t>
                      </a:r>
                      <a:endParaRPr sz="10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22F4E"/>
                          </a:solidFill>
                          <a:latin typeface="微软雅黑"/>
                        </a:rPr>
                        <a:t>Car 驾驶安全门</a:t>
                      </a:r>
                      <a:endParaRPr sz="10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02D"/>
                          </a:solidFill>
                          <a:latin typeface="微软雅黑"/>
                        </a:rPr>
                        <a:t>safety.driving_constraint: safe_always</a:t>
                      </a:r>
                      <a:endParaRPr sz="10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22F4E"/>
                          </a:solidFill>
                          <a:latin typeface="微软雅黑"/>
                        </a:rPr>
                        <a:t>PC 大屏优化渲染</a:t>
                      </a:r>
                      <a:endParaRPr sz="10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02D"/>
                          </a:solidFill>
                          <a:latin typeface="微软雅黑"/>
                        </a:rPr>
                        <a:t>output_hint.prefer_display: [screen_large]</a:t>
                      </a:r>
                      <a:endParaRPr sz="10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13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ACTION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按身份选路径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不是 "all-in" 承诺 · 六条差异化参与路径 · 成本和收益都明确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3393338" cy="1965960"/>
          </a:xfrm>
          <a:prstGeom prst="rect">
            <a:avLst/>
          </a:prstGeom>
          <a:solidFill>
            <a:srgbClr val="FAFAFA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274320" cy="45720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3027578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1F202D"/>
                </a:solidFill>
                <a:latin typeface="微软雅黑"/>
              </a:rPr>
              <a:t>CTO</a:t>
            </a:r>
            <a:endParaRPr sz="15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9093A0"/>
                </a:solidFill>
                <a:latin typeface="Calibri"/>
              </a:rPr>
              <a:t>大厂 / 云厂商</a:t>
            </a:r>
            <a:endParaRPr sz="1000" b="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05840" y="2834640"/>
            <a:ext cx="3027578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1">
                <a:solidFill>
                  <a:srgbClr val="122F4E"/>
                </a:solidFill>
                <a:latin typeface="Calibri"/>
              </a:rPr>
              <a:t>DO</a:t>
            </a:r>
            <a:endParaRPr sz="9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3027578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在 agent 产品支持 ATD binding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3493008"/>
            <a:ext cx="3027578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1">
                <a:solidFill>
                  <a:srgbClr val="122F4E"/>
                </a:solidFill>
                <a:latin typeface="Calibri"/>
              </a:rPr>
              <a:t>GET</a:t>
            </a:r>
            <a:endParaRPr sz="9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370332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APWG 治理席位 + 标准话语权</a:t>
            </a:r>
            <a:endParaRPr sz="10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99178" y="1920240"/>
            <a:ext cx="3393338" cy="1965960"/>
          </a:xfrm>
          <a:prstGeom prst="rect">
            <a:avLst/>
          </a:prstGeom>
          <a:solidFill>
            <a:srgbClr val="FAFAFA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9178" y="1920240"/>
            <a:ext cx="274320" cy="45720"/>
          </a:xfrm>
          <a:prstGeom prst="rect">
            <a:avLst/>
          </a:prstGeom>
          <a:solidFill>
            <a:srgbClr val="0C6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2058" y="2103120"/>
            <a:ext cx="3027578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1F202D"/>
                </a:solidFill>
                <a:latin typeface="微软雅黑"/>
              </a:rPr>
              <a:t>Agent 创业者</a:t>
            </a:r>
            <a:endParaRPr sz="15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82058" y="246888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9093A0"/>
                </a:solidFill>
                <a:latin typeface="Calibri"/>
              </a:rPr>
              <a:t>Framework 开发者</a:t>
            </a:r>
            <a:endParaRPr sz="1000" b="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82058" y="2834640"/>
            <a:ext cx="3027578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2058" y="292608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1">
                <a:solidFill>
                  <a:srgbClr val="0C676B"/>
                </a:solidFill>
                <a:latin typeface="Calibri"/>
              </a:rPr>
              <a:t>DO</a:t>
            </a:r>
            <a:endParaRPr sz="9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82058" y="3200400"/>
            <a:ext cx="3027578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加 Client SDK （&lt; 1d）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82058" y="3493008"/>
            <a:ext cx="3027578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1">
                <a:solidFill>
                  <a:srgbClr val="0C676B"/>
                </a:solidFill>
                <a:latin typeface="Calibri"/>
              </a:rPr>
              <a:t>GET</a:t>
            </a:r>
            <a:endParaRPr sz="9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82058" y="370332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免费获得全生态 tool</a:t>
            </a:r>
            <a:endParaRPr sz="10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975396" y="1920240"/>
            <a:ext cx="3393338" cy="1965960"/>
          </a:xfrm>
          <a:prstGeom prst="rect">
            <a:avLst/>
          </a:prstGeom>
          <a:solidFill>
            <a:srgbClr val="FAFAFA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5396" y="1920240"/>
            <a:ext cx="274320" cy="45720"/>
          </a:xfrm>
          <a:prstGeom prst="rect">
            <a:avLst/>
          </a:prstGeom>
          <a:solidFill>
            <a:srgbClr val="CE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8276" y="2103120"/>
            <a:ext cx="3027578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1F202D"/>
                </a:solidFill>
                <a:latin typeface="微软雅黑"/>
              </a:rPr>
              <a:t>Skill 作者</a:t>
            </a:r>
            <a:endParaRPr sz="15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58276" y="246888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9093A0"/>
                </a:solidFill>
                <a:latin typeface="Calibri"/>
              </a:rPr>
              <a:t>@agentskills.io</a:t>
            </a:r>
            <a:endParaRPr sz="1000" b="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158276" y="2834640"/>
            <a:ext cx="3027578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8276" y="292608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1">
                <a:solidFill>
                  <a:srgbClr val="CE7A00"/>
                </a:solidFill>
                <a:latin typeface="Calibri"/>
              </a:rPr>
              <a:t>DO</a:t>
            </a:r>
            <a:endParaRPr sz="900" b="1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58276" y="3200400"/>
            <a:ext cx="3027578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SKILL.md 加 atd-tools 字段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58276" y="3493008"/>
            <a:ext cx="3027578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1">
                <a:solidFill>
                  <a:srgbClr val="CE7A00"/>
                </a:solidFill>
                <a:latin typeface="Calibri"/>
              </a:rPr>
              <a:t>GET</a:t>
            </a:r>
            <a:endParaRPr sz="900" b="1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58276" y="370332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install 校验 + Hot 预热</a:t>
            </a:r>
            <a:endParaRPr sz="10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2960" y="4069080"/>
            <a:ext cx="3393338" cy="1965960"/>
          </a:xfrm>
          <a:prstGeom prst="rect">
            <a:avLst/>
          </a:prstGeom>
          <a:solidFill>
            <a:srgbClr val="FAFAFA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4069080"/>
            <a:ext cx="274320" cy="45720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251960"/>
            <a:ext cx="3027578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1F202D"/>
                </a:solidFill>
                <a:latin typeface="微软雅黑"/>
              </a:rPr>
              <a:t>MCP server 作者</a:t>
            </a:r>
            <a:endParaRPr sz="15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05840" y="461772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9093A0"/>
                </a:solidFill>
                <a:latin typeface="Calibri"/>
              </a:rPr>
              <a:t>Claude / Cursor</a:t>
            </a:r>
            <a:endParaRPr sz="1000" b="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005840" y="4983480"/>
            <a:ext cx="3027578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07492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1">
                <a:solidFill>
                  <a:srgbClr val="122F4E"/>
                </a:solidFill>
                <a:latin typeface="Calibri"/>
              </a:rPr>
              <a:t>DO</a:t>
            </a:r>
            <a:endParaRPr sz="9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05840" y="5349240"/>
            <a:ext cx="3027578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加一份 ATD manifest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05840" y="5641848"/>
            <a:ext cx="3027578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1">
                <a:solidFill>
                  <a:srgbClr val="122F4E"/>
                </a:solidFill>
                <a:latin typeface="Calibri"/>
              </a:rPr>
              <a:t>GET</a:t>
            </a:r>
            <a:endParaRPr sz="9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05840" y="585216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保留 MCP 生态 + 扩全宇宙</a:t>
            </a:r>
            <a:endParaRPr sz="10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399178" y="4069080"/>
            <a:ext cx="3393338" cy="1965960"/>
          </a:xfrm>
          <a:prstGeom prst="rect">
            <a:avLst/>
          </a:prstGeom>
          <a:solidFill>
            <a:srgbClr val="FAFAFA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99178" y="4069080"/>
            <a:ext cx="274320" cy="45720"/>
          </a:xfrm>
          <a:prstGeom prst="rect">
            <a:avLst/>
          </a:prstGeom>
          <a:solidFill>
            <a:srgbClr val="0C6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82058" y="4251960"/>
            <a:ext cx="3027578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1F202D"/>
                </a:solidFill>
                <a:latin typeface="微软雅黑"/>
              </a:rPr>
              <a:t>企业 IT</a:t>
            </a:r>
            <a:endParaRPr sz="15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82058" y="461772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9093A0"/>
                </a:solidFill>
                <a:latin typeface="Calibri"/>
              </a:rPr>
              <a:t>内部工具</a:t>
            </a:r>
            <a:endParaRPr sz="1000" b="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82058" y="4983480"/>
            <a:ext cx="3027578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82058" y="507492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1">
                <a:solidFill>
                  <a:srgbClr val="0C676B"/>
                </a:solidFill>
                <a:latin typeface="Calibri"/>
              </a:rPr>
              <a:t>DO</a:t>
            </a:r>
            <a:endParaRPr sz="9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82058" y="5349240"/>
            <a:ext cx="3027578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OpenAPI → ATD (一键生成)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82058" y="5641848"/>
            <a:ext cx="3027578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1">
                <a:solidFill>
                  <a:srgbClr val="0C676B"/>
                </a:solidFill>
                <a:latin typeface="Calibri"/>
              </a:rPr>
              <a:t>GET</a:t>
            </a:r>
            <a:endParaRPr sz="9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82058" y="585216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任何 agent 可消费</a:t>
            </a:r>
            <a:endParaRPr sz="10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975396" y="4069080"/>
            <a:ext cx="3393338" cy="1965960"/>
          </a:xfrm>
          <a:prstGeom prst="rect">
            <a:avLst/>
          </a:prstGeom>
          <a:solidFill>
            <a:srgbClr val="FAFAFA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75396" y="4069080"/>
            <a:ext cx="274320" cy="45720"/>
          </a:xfrm>
          <a:prstGeom prst="rect">
            <a:avLst/>
          </a:prstGeom>
          <a:solidFill>
            <a:srgbClr val="A6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58276" y="4251960"/>
            <a:ext cx="3027578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1F202D"/>
                </a:solidFill>
                <a:latin typeface="微软雅黑"/>
              </a:rPr>
              <a:t>设备 OEM</a:t>
            </a:r>
            <a:endParaRPr sz="15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158276" y="461772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9093A0"/>
                </a:solidFill>
                <a:latin typeface="Calibri"/>
              </a:rPr>
              <a:t>移动 / Car / IoT</a:t>
            </a:r>
            <a:endParaRPr sz="1000" b="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158276" y="4983480"/>
            <a:ext cx="3027578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58276" y="507492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1">
                <a:solidFill>
                  <a:srgbClr val="A61E24"/>
                </a:solidFill>
                <a:latin typeface="Calibri"/>
              </a:rPr>
              <a:t>DO</a:t>
            </a:r>
            <a:endParaRPr sz="900" b="1">
              <a:solidFill>
                <a:srgbClr val="A61E24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58276" y="5349240"/>
            <a:ext cx="3027578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原生 App Intent / Wear Engine / ...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158276" y="5641848"/>
            <a:ext cx="3027578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1">
                <a:solidFill>
                  <a:srgbClr val="A61E24"/>
                </a:solidFill>
                <a:latin typeface="Calibri"/>
              </a:rPr>
              <a:t>GET</a:t>
            </a:r>
            <a:endParaRPr sz="900" b="1">
              <a:solidFill>
                <a:srgbClr val="A61E24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158276" y="5852160"/>
            <a:ext cx="302757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一份定义跨 vendor 路由</a:t>
            </a:r>
            <a:endParaRPr sz="10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14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COMMON GROUND · §5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Hello World  ·  最小可运行的 ATD tool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solidFill>
            <a:srgbClr val="F5F6F8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91440" rtlCol="0" anchor="ctr"/>
          <a:lstStyle/>
          <a:p>
            <a:pPr algn="ctr"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atd_version: "1.0"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id:   anos:echo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name: "Echo"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capability: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domain: demo.echo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actions: [say]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intent_examples: ["echo this", "repeat after me"]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input:  { type: object, properties: { text: { type: string } }, required: [text] }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output: { type: object, properties: { text: { type: string }, length: { type: integer } } }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bindings: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cli:  { command: "echo", args_template: "{text}" }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safety: { level: read }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─────────────────────────────────────────────────────────────────────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$ atd call anos:echo --args {"text": "hello ATD"}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✓ 0.02s  {"text": "hello ATD", "length": 9,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          "metadata": {"binding_used": "cli"}}</a:t>
            </a:r>
            <a:endParaRPr sz="120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15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§6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MCP Server 作者  ·  加法而非替换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你的 MCP server 零改动 · 加一份 ATD manifest 立刻被全生态 agent 消费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10515600" cy="2743200"/>
          </a:xfrm>
          <a:prstGeom prst="rect">
            <a:avLst/>
          </a:prstGeom>
          <a:solidFill>
            <a:srgbClr val="F5F6F8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91440" rtlCol="0" anchor="ctr"/>
          <a:lstStyle/>
          <a:p>
            <a:pPr algn="ctr">
              <a:lnSpc>
                <a:spcPct val="110000"/>
              </a:lnSpc>
            </a:pPr>
            <a:r>
              <a:rPr sz="1100">
                <a:solidFill>
                  <a:srgbClr val="1F202D"/>
                </a:solidFill>
                <a:latin typeface="Consolas"/>
              </a:rPr>
              <a:t># atd-manifest.json — 放在你的 MCP server repo 根目录</a:t>
            </a:r>
            <a:endParaRPr sz="11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02D"/>
                </a:solidFill>
                <a:latin typeface="Consolas"/>
              </a:rPr>
              <a:t>{</a:t>
            </a:r>
            <a:endParaRPr sz="11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02D"/>
                </a:solidFill>
                <a:latin typeface="Consolas"/>
              </a:rPr>
              <a:t>  "atd_version": "1.0",</a:t>
            </a:r>
            <a:endParaRPr sz="11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02D"/>
                </a:solidFill>
                <a:latin typeface="Consolas"/>
              </a:rPr>
              <a:t>  "maps_mcp_server": { "command": "node", "args": ["./xiaomi-mcp.js"] },</a:t>
            </a:r>
            <a:endParaRPr sz="11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02D"/>
                </a:solidFill>
                <a:latin typeface="Consolas"/>
              </a:rPr>
              <a:t>  "tools": [</a:t>
            </a:r>
            <a:endParaRPr sz="11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02D"/>
                </a:solidFill>
                <a:latin typeface="Consolas"/>
              </a:rPr>
              <a:t>    { "id": "vendor:xiaomi:light.toggle",</a:t>
            </a:r>
            <a:endParaRPr sz="11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02D"/>
                </a:solidFill>
                <a:latin typeface="Consolas"/>
              </a:rPr>
              <a:t>      "mcp_tool_name": "toggle_light",</a:t>
            </a:r>
            <a:endParaRPr sz="11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02D"/>
                </a:solidFill>
                <a:latin typeface="Consolas"/>
              </a:rPr>
              <a:t>      "capability": { "domain": "smart_home.light", ... },</a:t>
            </a:r>
            <a:endParaRPr sz="11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02D"/>
                </a:solidFill>
                <a:latin typeface="Consolas"/>
              </a:rPr>
              <a:t>      "bindings": { "mcp": { "server_ref": "self" } } }</a:t>
            </a:r>
            <a:endParaRPr sz="11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02D"/>
                </a:solidFill>
                <a:latin typeface="Consolas"/>
              </a:rPr>
              <a:t>  ]</a:t>
            </a:r>
            <a:endParaRPr sz="11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02D"/>
                </a:solidFill>
                <a:latin typeface="Consolas"/>
              </a:rPr>
              <a:t>}</a:t>
            </a:r>
            <a:endParaRPr sz="110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10515600" cy="1645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122F4E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你的 MCP server 代码零改动</a:t>
            </a:r>
            <a:endParaRPr sz="1100">
              <a:solidFill>
                <a:srgbClr val="1F202D"/>
              </a:solidFill>
              <a:latin typeface="微软雅黑"/>
            </a:endParaRP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122F4E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ATD runtime 自动发现 tool，用你的 server 作为执行体</a:t>
            </a:r>
            <a:endParaRPr sz="1100">
              <a:solidFill>
                <a:srgbClr val="1F202D"/>
              </a:solidFill>
              <a:latin typeface="微软雅黑"/>
            </a:endParaRP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122F4E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两生态并行：既走 ATD dispatch，也继续走原生 MCP</a:t>
            </a:r>
            <a:endParaRPr sz="1100">
              <a:solidFill>
                <a:srgbClr val="1F202D"/>
              </a:solidFill>
              <a:latin typeface="微软雅黑"/>
            </a:endParaRP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122F4E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50+ 主流 MCP server（filesystem · github · memory · ...）按此迁移</a:t>
            </a:r>
            <a:endParaRPr sz="110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16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§7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Agent 框架作者  ·  15 分钟接入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solidFill>
            <a:srgbClr val="F5F6F8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91440" rtlCol="0" anchor="ctr"/>
          <a:lstStyle/>
          <a:p>
            <a:pPr algn="ctr"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# Python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from atd_client import AtdClient, CallOptions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client = await AtdClient.connect("unix:///home/me/.anos/anos.sock")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tools  = await client.discover(query="smart home", limit=20)    # Hot tier only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result = await client.call(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  "xiaomi:light.toggle",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  device_id="bedroom", state="on",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  options=CallOptions(session="lily-evening"))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# LLM 适配 helpers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openai_tools    = await client.as_openai_tools(tools)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anthropic_tools = await client.as_anthropic_tools(tools)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─────────────────────────────────────────────────────────────────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// TypeScript / Rust 同构 API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const client = await AtdClient.connect({ type: "unix", path: "..." });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const r = await client.call("xiaomi:light.toggle", { ... });</a:t>
            </a:r>
            <a:endParaRPr sz="120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17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0C676B"/>
                </a:solidFill>
                <a:latin typeface="Calibri"/>
              </a:rPr>
              <a:t>§8.1 · DEVICE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Phone  ·  手机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全算力 · 全屏 UI · 常连 — 所有 agent 的主设备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BINDING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App Intents · AppFunctions · Intents Kit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OS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iOS · Android · HarmonyOS 5/6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SENSORS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68880" y="292608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camera · mic · gps · accel · bio-id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QUICKSTART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68880" y="342900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15 min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ROLE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68880" y="393192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Lily 主 agent 决策中枢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5394960" cy="4297680"/>
          </a:xfrm>
          <a:prstGeom prst="rect">
            <a:avLst/>
          </a:prstGeom>
          <a:solidFill>
            <a:srgbClr val="F5F6F8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91440" rtlCol="0" anchor="ctr"/>
          <a:lstStyle/>
          <a:p>
            <a:pPr algn="ctr"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# HarmonyOS ArkTS — @AppFunction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import { Ability } from "@ohos.app.ability";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import { health } from "@hms.health.core";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export default class StepsAbility extends Ability {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@AppFunction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async onCall(want) {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const date = want.parameters.date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?? new Date().toISOString();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return {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steps: await health.getSteps({ date })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};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}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}</a:t>
            </a:r>
            <a:endParaRPr sz="100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18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0C676B"/>
                </a:solidFill>
                <a:latin typeface="Calibri"/>
              </a:rPr>
              <a:t>§8.2 · DEVICE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Watch  ·  手表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传感器密集 · 电池敏感 · companion 约束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BINDING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Wear Engine · WatchKit + HealthKit · Wear OS Tiles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SENSORS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heart_rate · ecg · spo2 · skin_temp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CONSTRAINT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68880" y="292608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小屏 / 无屏 · 有限算力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QUICKSTART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68880" y="342900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20 min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ROLE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68880" y="393192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Lily ambient 传感 · 异常触发点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5394960" cy="4297680"/>
          </a:xfrm>
          <a:prstGeom prst="rect">
            <a:avLst/>
          </a:prstGeom>
          <a:solidFill>
            <a:srgbClr val="F5F6F8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91440" rtlCol="0" anchor="ctr"/>
          <a:lstStyle/>
          <a:p>
            <a:pPr algn="ctr"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# Huawei Wear Engine (ArkTS)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import wearEngine from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"@hms.health.wear-engine";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@AppFunction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export default class HealthDataProvider {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async getCurrentHeartRate() {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const r = await wearEngine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.healthData.queryLatest({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  dataType: wearEngine.DataType.HEART_RATE,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  maxAge: 10000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});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return { bpm: r.value };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}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}</a:t>
            </a:r>
            <a:endParaRPr sz="100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19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0C676B"/>
                </a:solidFill>
                <a:latin typeface="Calibri"/>
              </a:rPr>
              <a:t>§8.3 · DEVICE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Earbuds  ·  耳机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ATD 不是流媒体协议 — 只发控制命令，音频走独立通道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BINDING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Audio Connect · AirPods bridge · BLE GATT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UI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no-screen · voice · 手势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TRANSPORT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68880" y="292608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Bluetooth · NearLink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QUICKSTART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68880" y="342900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30 min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PITFALL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68880" y="393192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不要设计"实时音频分析 tool"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5394960" cy="4297680"/>
          </a:xfrm>
          <a:prstGeom prst="rect">
            <a:avLst/>
          </a:prstGeom>
          <a:solidFill>
            <a:srgbClr val="F5F6F8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91440" rtlCol="0" anchor="ctr"/>
          <a:lstStyle/>
          <a:p>
            <a:pPr algn="ctr"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# earbuds tool 示意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id: freebuds.noise.set_mode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device: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preferred: [earbuds]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requires: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ui_modes: [voice]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bindings: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appfunction: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- device_type: earbuds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vendor: huawei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model: freebuds_pro_5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transport: nearlink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service: AudioControlService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characteristic: ANCMode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# audio data 不经过 ATD</a:t>
            </a:r>
            <a:endParaRPr sz="100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20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0C676B"/>
                </a:solidFill>
                <a:latin typeface="Calibri"/>
              </a:rPr>
              <a:t>§8.4 · DEVICE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Tablet  ·  平板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Phone 的大屏扩展 — 关键是 output_hint.prefer_display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BINDING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同 Phone + stylus · 键盘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SIZE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接近 laptop 算力 · 大屏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USE CASE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68880" y="292608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长文档渲染 · 多窗口数据分析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QUICKSTART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68880" y="342900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15 min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ROLE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68880" y="393192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Lily 候诊看 PDF · 车上复习报告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5394960" cy="4297680"/>
          </a:xfrm>
          <a:prstGeom prst="rect">
            <a:avLst/>
          </a:prstGeom>
          <a:solidFill>
            <a:srgbClr val="F5F6F8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91440" rtlCol="0" anchor="ctr"/>
          <a:lstStyle/>
          <a:p>
            <a:pPr algn="ctr"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# 与 phone 相同 binding + display hint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id: browser.render_article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device: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preferred: [tablet, pc]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fallback: [phone]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output_hint: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prefer_display: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- screen_large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- screen_medium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fallback_display: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- voice_summary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# 若只剩 earbuds → tool 返回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#   TTS-friendly 短摘要</a:t>
            </a:r>
            <a:endParaRPr sz="100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21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0C676B"/>
                </a:solidFill>
                <a:latin typeface="Calibri"/>
              </a:rPr>
              <a:t>§8.5 · DEVICE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PC  ·  电脑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全算力 + 多窗口 + 2026-04 HarmonyOS PC 新品类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BINDING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Shell · GUI automation · HarmonyOS PC Kits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OS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macOS · Windows · Linux · HarmonyOS PC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FEATURE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68880" y="292608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shell 是一等公民 binding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QUICKSTART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68880" y="342900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20 min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OPPORTUNITY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68880" y="393192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HarmonyOS PC 生态冷启动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5394960" cy="4297680"/>
          </a:xfrm>
          <a:prstGeom prst="rect">
            <a:avLst/>
          </a:prstGeom>
          <a:solidFill>
            <a:srgbClr val="F5F6F8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91440" rtlCol="0" anchor="ctr"/>
          <a:lstStyle/>
          <a:p>
            <a:pPr algn="ctr"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# PC tool — CLI per OS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id: pc.file.find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device: { preferred: [pc] }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bindings: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cli: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- platform: linux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command: "find"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args: "{dir} -name {pat}"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- platform: macos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command: "mdfind"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- platform: windows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command: "pwsh"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- platform: harmonyos_pc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appfunction: { ... }</a:t>
            </a:r>
            <a:endParaRPr sz="100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22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0C676B"/>
                </a:solidFill>
                <a:latin typeface="Calibri"/>
              </a:rPr>
              <a:t>§8.6 · DEVICE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Car HMI  ·  智能汽车车机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最独特设备类：驾驶安全 + CAN bus + HIMA 联盟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BINDING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HIMA · HarmonySpace 6 · CarPlay · AAOS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SENSORS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can_bus · gps · 多摄像头 · 激光雷达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KEY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68880" y="292608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safety.driving_constraint 三档枚举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QUICKSTART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68880" y="342900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45 min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LAUNCH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68880" y="393192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2026-04 HarmonySpace 6 + ADS 5.0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5394960" cy="4297680"/>
          </a:xfrm>
          <a:prstGeom prst="rect">
            <a:avLst/>
          </a:prstGeom>
          <a:solidFill>
            <a:srgbClr val="F5F6F8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91440" rtlCol="0" anchor="ctr"/>
          <a:lstStyle/>
          <a:p>
            <a:pPr algn="ctr"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# 驾驶安全门 — 三档约束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id: car.navigation.route_to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safety: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driving_constraint: safe_always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# ↑ 驾驶中可用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id: car.settings.change_layout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safety: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driving_constraint: requires_parked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# ↑ 必须停车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id: car.cabin.stream_selfie_camera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safety: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driving_constraint: passenger_only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# ↑ 只副驾 / 后排</a:t>
            </a:r>
            <a:endParaRPr sz="100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23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0C676B"/>
                </a:solidFill>
                <a:latin typeface="Calibri"/>
              </a:rPr>
              <a:t>§8.7 · DEVICE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TV  ·  智慧屏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10-ft UI + 家庭共享设备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BINDING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HarmonyOS Vision · tvOS · Google TV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SIZE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55-85 寸 · 4K/8K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UI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68880" y="292608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遥控器导航 · 非触控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QUICKSTART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68880" y="342900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20 min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0C676B"/>
                </a:solidFill>
                <a:latin typeface="Calibri"/>
              </a:rPr>
              <a:t>ISSUE</a:t>
            </a:r>
            <a:endParaRPr sz="1000" b="1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68880" y="3931920"/>
            <a:ext cx="34747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微软雅黑"/>
              </a:rPr>
              <a:t>多用户 — v3 未在协议区分</a:t>
            </a:r>
            <a:endParaRPr sz="11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5394960" cy="4297680"/>
          </a:xfrm>
          <a:prstGeom prst="rect">
            <a:avLst/>
          </a:prstGeom>
          <a:solidFill>
            <a:srgbClr val="F5F6F8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91440" rtlCol="0" anchor="ctr"/>
          <a:lstStyle/>
          <a:p>
            <a:pPr algn="ctr"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id: tv.media.play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device: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preferred: [tv]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fallback: [tablet, pc]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output_hint: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prefer_display: [screen_large]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bindings: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appfunction: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- device_type: tv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vendor: huawei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platform: harmonyos_vision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ability: MediaPlayAbility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- device_type: tv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vendor: apple</a:t>
            </a:r>
            <a:endParaRPr sz="10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F202D"/>
                </a:solidFill>
                <a:latin typeface="Consolas"/>
              </a:rPr>
              <a:t>      platform: tvos</a:t>
            </a:r>
            <a:endParaRPr sz="100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24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§8.8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设备 × Binding 完整矩阵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没有单一 binding 覆盖所有设备类 · v3 用三维索引成功表达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92024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383280"/>
                <a:gridCol w="1097280"/>
                <a:gridCol w="2286000"/>
                <a:gridCol w="2286000"/>
              </a:tblGrid>
              <a:tr h="5143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C676B"/>
                          </a:solidFill>
                          <a:latin typeface="Calibri"/>
                        </a:rPr>
                        <a:t>设备类</a:t>
                      </a:r>
                      <a:endParaRPr sz="1000" b="1">
                        <a:solidFill>
                          <a:srgbClr val="0C676B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C676B"/>
                          </a:solidFill>
                          <a:latin typeface="Calibri"/>
                        </a:rPr>
                        <a:t>主 binding</a:t>
                      </a:r>
                      <a:endParaRPr sz="1000" b="1">
                        <a:solidFill>
                          <a:srgbClr val="0C676B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C676B"/>
                          </a:solidFill>
                          <a:latin typeface="Calibri"/>
                        </a:rPr>
                        <a:t>延迟</a:t>
                      </a:r>
                      <a:endParaRPr sz="1000" b="1">
                        <a:solidFill>
                          <a:srgbClr val="0C676B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C676B"/>
                          </a:solidFill>
                          <a:latin typeface="Calibri"/>
                        </a:rPr>
                        <a:t>特色</a:t>
                      </a:r>
                      <a:endParaRPr sz="1000" b="1">
                        <a:solidFill>
                          <a:srgbClr val="0C676B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C676B"/>
                          </a:solidFill>
                          <a:latin typeface="Calibri"/>
                        </a:rPr>
                        <a:t>常见 fallback</a:t>
                      </a:r>
                      <a:endParaRPr sz="1000" b="1">
                        <a:solidFill>
                          <a:srgbClr val="0C676B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Phone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AppFunction (per OS)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&lt;50ms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全功能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REST (cloud)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Watch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AppFunction (WearEngine / HealthKit)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&lt;30ms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health_*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Phone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Earbuds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AppFunction (控制平面)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&lt;100ms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audio + 手势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—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Tablet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同 Phone + prefer_large_screen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&lt;50ms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大屏渲染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Phone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PC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CLI + AppFunction + Shell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&lt;100ms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全算力 + 多窗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Tablet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Car HMI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AppFunction + driving_constraint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&lt;200ms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CAN bus + ADS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—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TV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AppFunction + screen_large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&lt;100ms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家庭中枢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Tablet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25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§9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企业工具 owner  ·  OpenAPI → ATD (15 min)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solidFill>
            <a:srgbClr val="F5F6F8"/>
          </a:solidFill>
          <a:ln w="6350">
            <a:solidFill>
              <a:srgbClr val="E3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91440" rtlCol="0" anchor="ctr"/>
          <a:lstStyle/>
          <a:p>
            <a:pPr algn="ctr"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# Step 1 — 用 atd-gen-openapi 生成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$ atd-gen-openapi --input jira-openapi.yaml \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                 --namespace acme:jira \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                 -o ./atd-tools/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# Step 2 — 每个 endpoint 自动生成 ATD tool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id: acme:jira.issues.search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capability: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domain: tracking.issue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intent_examples: ["find jira issues", "查 jira"]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bindings: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rest: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  method: GET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  url_template: "https://jira.acme.com/rest/api/3/search?jql={jql}"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    auth: { type: bearer, scope: acme.jira.read }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safety: { level: read }</a:t>
            </a:r>
            <a:endParaRPr sz="1200">
              <a:solidFill>
                <a:srgbClr val="1F202D"/>
              </a:solidFill>
              <a:latin typeface="Consolas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1F202D"/>
                </a:solidFill>
                <a:latin typeface="Consolas"/>
              </a:rPr>
              <a:t># Step 3 — 注册到 ATD server → 任何 agent 可消费</a:t>
            </a:r>
            <a:endParaRPr sz="120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26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§10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Lily 端到端  ·  950ms 全链路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"明早 7 点开灯，昨晚睡眠怎么样？" — 2 vendor · 3 binding · 多 middleware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92024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3383280"/>
              </a:tblGrid>
              <a:tr h="406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22F4E"/>
                          </a:solidFill>
                          <a:latin typeface="Calibri"/>
                        </a:rPr>
                        <a:t>T</a:t>
                      </a:r>
                      <a:endParaRPr sz="1000" b="1">
                        <a:solidFill>
                          <a:srgbClr val="122F4E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22F4E"/>
                          </a:solidFill>
                          <a:latin typeface="Calibri"/>
                        </a:rPr>
                        <a:t>事件</a:t>
                      </a:r>
                      <a:endParaRPr sz="1000" b="1">
                        <a:solidFill>
                          <a:srgbClr val="122F4E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22F4E"/>
                          </a:solidFill>
                          <a:latin typeface="Calibri"/>
                        </a:rPr>
                        <a:t>设备 / binding</a:t>
                      </a:r>
                      <a:endParaRPr sz="1000" b="1">
                        <a:solidFill>
                          <a:srgbClr val="122F4E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0 ms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语音识别 + LLM pre-process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Phone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50 ms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LLM 返回 2 intent + tool calls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Phone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300 ms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ATD discover · HNSW 匹配工具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Phone (dispatch)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400 ms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并行 Capability check + Rate limit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Phone (dispatch)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500 ms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Call 1: xiaomi:timer.schedule via MCP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Phone → 米家 MCP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500 ms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Call 2: huawei:health.sleep.get via REST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Phone → 华为云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850 ms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两 call 完成 + PII redact middleware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dispatch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950 ms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LLM 最终回复渲染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Phone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571500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F202D"/>
                </a:solidFill>
                <a:latin typeface="微软雅黑"/>
              </a:rPr>
              <a:t>Lily 感知：说了一句话，等了一秒，看到了结果。</a:t>
            </a:r>
            <a:endParaRPr sz="12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背后：2 个 vendor · 3 种 binding · 多 middleware 协作 · 全部在协议层表达。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27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APPLIED DESIGN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ATD for HMS Core  ·  Flagship Matrix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HMS Core = 2026 最复杂的 agent tool 生态：20+ kit × 7 设备类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9202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2834640"/>
                <a:gridCol w="2834640"/>
              </a:tblGrid>
              <a:tr h="670560">
                <a:tc>
                  <a:txBody>
                    <a:bodyPr/>
                    <a:lstStyle/>
                    <a:p>
                      <a:endParaRPr sz="1000" b="1">
                        <a:solidFill>
                          <a:srgbClr val="A61E24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61E24"/>
                          </a:solidFill>
                          <a:latin typeface="Calibri"/>
                        </a:rPr>
                        <a:t>Phone (Mate 80)</a:t>
                      </a:r>
                      <a:endParaRPr sz="1000" b="1">
                        <a:solidFill>
                          <a:srgbClr val="A61E24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61E24"/>
                          </a:solidFill>
                          <a:latin typeface="Calibri"/>
                        </a:rPr>
                        <a:t>Watch (Watch 4)</a:t>
                      </a:r>
                      <a:endParaRPr sz="1000" b="1">
                        <a:solidFill>
                          <a:srgbClr val="A61E24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61E24"/>
                          </a:solidFill>
                          <a:latin typeface="Calibri"/>
                        </a:rPr>
                        <a:t>Car HMI (Aito M9)</a:t>
                      </a:r>
                      <a:endParaRPr sz="1000" b="1">
                        <a:solidFill>
                          <a:srgbClr val="A61E24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HealthKit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REST + HMS Health SDK  ★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Wear Engine  ★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DSoftBus 同步仪表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Location Kit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fused local + geocode  ★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GPS + geofence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GNSS + CAN-bus 速度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Push Kit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纯 REST  ★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via phone bridge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停车再通知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ML Kit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edge + cloud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轻量端推理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车内语音 + 视觉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Site Kit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REST (POI)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通过 phone 代理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导航目的地  ★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603504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555868"/>
                </a:solidFill>
                <a:latin typeface="微软雅黑"/>
              </a:rPr>
              <a:t>★ = 5 flagship cell 完整展开  ·  详见 atd-for-hms-core-design.md</a:t>
            </a:r>
            <a:endParaRPr sz="10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28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HMS · ROADMAP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三阶段路线  ·  每阶段独立可验证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2024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4297680"/>
                <a:gridCol w="2286000"/>
                <a:gridCol w="1371600"/>
              </a:tblGrid>
              <a:tr h="6217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61E24"/>
                          </a:solidFill>
                          <a:latin typeface="Calibri"/>
                        </a:rPr>
                        <a:t>Phase</a:t>
                      </a:r>
                      <a:endParaRPr sz="1000" b="1">
                        <a:solidFill>
                          <a:srgbClr val="A61E24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61E24"/>
                          </a:solidFill>
                          <a:latin typeface="Calibri"/>
                        </a:rPr>
                        <a:t>时间</a:t>
                      </a:r>
                      <a:endParaRPr sz="1000" b="1">
                        <a:solidFill>
                          <a:srgbClr val="A61E24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61E24"/>
                          </a:solidFill>
                          <a:latin typeface="Calibri"/>
                        </a:rPr>
                        <a:t>交付</a:t>
                      </a:r>
                      <a:endParaRPr sz="1000" b="1">
                        <a:solidFill>
                          <a:srgbClr val="A61E24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61E24"/>
                          </a:solidFill>
                          <a:latin typeface="Calibri"/>
                        </a:rPr>
                        <a:t>投入</a:t>
                      </a:r>
                      <a:endParaRPr sz="1000" b="1">
                        <a:solidFill>
                          <a:srgbClr val="A61E24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61E24"/>
                          </a:solidFill>
                          <a:latin typeface="Calibri"/>
                        </a:rPr>
                        <a:t>覆盖</a:t>
                      </a:r>
                      <a:endParaRPr sz="1000" b="1">
                        <a:solidFill>
                          <a:srgbClr val="A61E24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0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2026 Q2–Q3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HMS Cloud Kit REST binding × 5 + APWG call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2 FTE × 2 Q · 极低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~30%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1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2026 Q4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HarmonyOS 5 NEXT / Android on-device AppFunction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3-5 FTE × 1 Q · 中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~60%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2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2027 Q1–Q2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Watch (Wear Engine) · Car · Earbuds + DSoftBus 分布式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5-10 FTE × 2 Q · 中高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~95%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微软雅黑"/>
                        </a:rPr>
                        <a:t>3+</a:t>
                      </a:r>
                      <a:endParaRPr sz="11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2027 H2+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TV · PC 长尾 · HIMA 扩展 · APWG 升格 W3C/IETF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与生态共建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02D"/>
                          </a:solidFill>
                          <a:latin typeface="微软雅黑"/>
                        </a:rPr>
                        <a:t>100%</a:t>
                      </a:r>
                      <a:endParaRPr sz="11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12064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A61E24"/>
                </a:solidFill>
                <a:latin typeface="微软雅黑"/>
              </a:rPr>
              <a:t>时间窗口</a:t>
            </a:r>
            <a:endParaRPr sz="1200" b="1">
              <a:solidFill>
                <a:srgbClr val="A61E24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669280"/>
            <a:ext cx="10515600" cy="8229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2026 Q3 前是关键。错过窗口 → MCP + agentskills.io 在非 Huawei 生态形成事实标准。</a:t>
            </a:r>
            <a:endParaRPr sz="1100" b="0">
              <a:solidFill>
                <a:srgbClr val="555868"/>
              </a:solidFill>
              <a:latin typeface="微软雅黑"/>
            </a:endParaRPr>
          </a:p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华为独特优势（唯一全 7 设备类厂商）在 agent 时代只能通过中立协议 ATD 释放。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29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NEW APPENDICES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H / I / J / K / L  ·  v3 新增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规范化词表、分布式 binding schema、DSL 语法、middleware 规范、gws 吸收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73152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3600" b="0">
                <a:solidFill>
                  <a:srgbClr val="122F4E"/>
                </a:solidFill>
                <a:latin typeface="Calibri"/>
              </a:rPr>
              <a:t>H</a:t>
            </a:r>
            <a:endParaRPr sz="36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2011680"/>
            <a:ext cx="36576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Device Type Registry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987552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10 canonical device types + 20 capability tags + DeviceInstance struct · 词表演进需 RFC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73152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3600" b="0">
                <a:solidFill>
                  <a:srgbClr val="0C676B"/>
                </a:solidFill>
                <a:latin typeface="Calibri"/>
              </a:rPr>
              <a:t>I</a:t>
            </a:r>
            <a:endParaRPr sz="3600" b="0">
              <a:solidFill>
                <a:srgbClr val="0C676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8800" y="2880360"/>
            <a:ext cx="36576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Distributed Binding Schemas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0" y="3246120"/>
            <a:ext cx="987552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HarmonyOS Super Device (DSoftBus) · Apple Continuity / Handoff · Generic RPC fallback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73152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3600" b="0">
                <a:solidFill>
                  <a:srgbClr val="CE7A00"/>
                </a:solidFill>
                <a:latin typeface="Calibri"/>
              </a:rPr>
              <a:t>J</a:t>
            </a:r>
            <a:endParaRPr sz="3600" b="0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3749039"/>
            <a:ext cx="36576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Ergonomic Alias DSL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4114800"/>
            <a:ext cx="987552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EBNF 语法 · 9 whitelisted fn · 嵌套合法 · 错误路径 · conformance 12 用例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526279"/>
            <a:ext cx="73152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3600" b="0">
                <a:solidFill>
                  <a:srgbClr val="A61E24"/>
                </a:solidFill>
                <a:latin typeface="Calibri"/>
              </a:rPr>
              <a:t>K</a:t>
            </a:r>
            <a:endParaRPr sz="3600" b="0">
              <a:solidFill>
                <a:srgbClr val="A61E24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28800" y="4617719"/>
            <a:ext cx="36576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Result Middleware Spec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28800" y="4983479"/>
            <a:ext cx="987552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ResultMiddleware trait · MiddlewareOutput enum · 5 builtin 规范 · plugin 注册 · audit trail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73152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3600" b="0">
                <a:solidFill>
                  <a:srgbClr val="122F4E"/>
                </a:solidFill>
                <a:latin typeface="Calibri"/>
              </a:rPr>
              <a:t>L</a:t>
            </a:r>
            <a:endParaRPr sz="36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00" b="1">
                <a:solidFill>
                  <a:srgbClr val="1F202D"/>
                </a:solidFill>
                <a:latin typeface="微软雅黑"/>
              </a:rPr>
              <a:t>gws Pattern Absorption</a:t>
            </a:r>
            <a:endParaRPr sz="14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28800" y="5852160"/>
            <a:ext cx="987552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微软雅黑"/>
              </a:rPr>
              <a:t>4 吸收 (trust · middleware · aliases · progressive disclosure) · 11 不吸收 · 理由逐条</a:t>
            </a:r>
            <a:endParaRPr sz="1100" b="0">
              <a:solidFill>
                <a:srgbClr val="555868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30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GOVERNANCE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Agent Protocol Working Group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555868"/>
                </a:solidFill>
                <a:latin typeface="微软雅黑"/>
              </a:rPr>
              <a:t>三阶段演化  ·  多利益方治理</a:t>
            </a:r>
            <a:endParaRPr sz="1300" i="1">
              <a:solidFill>
                <a:srgbClr val="555868"/>
              </a:solidFill>
              <a:latin typeface="微软雅黑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92024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377440"/>
                <a:gridCol w="3291840"/>
                <a:gridCol w="3383280"/>
              </a:tblGrid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Calibri"/>
                        </a:rPr>
                        <a:t>阶段</a:t>
                      </a:r>
                      <a:endParaRPr sz="1100" b="1">
                        <a:solidFill>
                          <a:srgbClr val="122F4E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Calibri"/>
                        </a:rPr>
                        <a:t>时间</a:t>
                      </a:r>
                      <a:endParaRPr sz="1100" b="1">
                        <a:solidFill>
                          <a:srgbClr val="122F4E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Calibri"/>
                        </a:rPr>
                        <a:t>主导</a:t>
                      </a:r>
                      <a:endParaRPr sz="1100" b="1">
                        <a:solidFill>
                          <a:srgbClr val="122F4E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2F4E"/>
                          </a:solidFill>
                          <a:latin typeface="Calibri"/>
                        </a:rPr>
                        <a:t>决策机制</a:t>
                      </a:r>
                      <a:endParaRPr sz="1100" b="1">
                        <a:solidFill>
                          <a:srgbClr val="122F4E"/>
                        </a:solidFill>
                        <a:latin typeface="Calibri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F4E"/>
                          </a:solidFill>
                          <a:latin typeface="微软雅黑"/>
                        </a:rPr>
                        <a:t>Phase 1</a:t>
                      </a:r>
                      <a:endParaRPr sz="12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02D"/>
                          </a:solidFill>
                          <a:latin typeface="微软雅黑"/>
                        </a:rPr>
                        <a:t>2026 Q2 – Q3</a:t>
                      </a:r>
                      <a:endParaRPr sz="12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02D"/>
                          </a:solidFill>
                          <a:latin typeface="微软雅黑"/>
                        </a:rPr>
                        <a:t>ANOS 项目 + 早期采纳者</a:t>
                      </a:r>
                      <a:endParaRPr sz="12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02D"/>
                          </a:solidFill>
                          <a:latin typeface="微软雅黑"/>
                        </a:rPr>
                        <a:t>维护者 consensus + GitHub RFC</a:t>
                      </a:r>
                      <a:endParaRPr sz="12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F4E"/>
                          </a:solidFill>
                          <a:latin typeface="微软雅黑"/>
                        </a:rPr>
                        <a:t>Phase 2</a:t>
                      </a:r>
                      <a:endParaRPr sz="12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02D"/>
                          </a:solidFill>
                          <a:latin typeface="微软雅黑"/>
                        </a:rPr>
                        <a:t>2026 Q4 – 2027</a:t>
                      </a:r>
                      <a:endParaRPr sz="12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02D"/>
                          </a:solidFill>
                          <a:latin typeface="微软雅黑"/>
                        </a:rPr>
                        <a:t>APWG 多利益方</a:t>
                      </a:r>
                      <a:endParaRPr sz="12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02D"/>
                          </a:solidFill>
                          <a:latin typeface="微软雅黑"/>
                        </a:rPr>
                        <a:t>Rough Consensus + 2 minor deprecation</a:t>
                      </a:r>
                      <a:endParaRPr sz="12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F4E"/>
                          </a:solidFill>
                          <a:latin typeface="微软雅黑"/>
                        </a:rPr>
                        <a:t>Phase 3</a:t>
                      </a:r>
                      <a:endParaRPr sz="1200" b="1">
                        <a:solidFill>
                          <a:srgbClr val="122F4E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02D"/>
                          </a:solidFill>
                          <a:latin typeface="微软雅黑"/>
                        </a:rPr>
                        <a:t>2028+</a:t>
                      </a:r>
                      <a:endParaRPr sz="12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02D"/>
                          </a:solidFill>
                          <a:latin typeface="微软雅黑"/>
                        </a:rPr>
                        <a:t>W3C / IETF / LF AI</a:t>
                      </a:r>
                      <a:endParaRPr sz="12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02D"/>
                          </a:solidFill>
                          <a:latin typeface="微软雅黑"/>
                        </a:rPr>
                        <a:t>标准化组织流程</a:t>
                      </a:r>
                      <a:endParaRPr sz="1200">
                        <a:solidFill>
                          <a:srgbClr val="1F202D"/>
                        </a:solidFill>
                        <a:latin typeface="微软雅黑"/>
                      </a:endParaRPr>
                    </a:p>
                  </a:txBody>
                  <a:tcPr marL="137160" marR="137160" marT="73152" marB="73152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443484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1">
                <a:solidFill>
                  <a:srgbClr val="CE7A00"/>
                </a:solidFill>
                <a:latin typeface="微软雅黑"/>
              </a:rPr>
              <a:t>Founding Adopter 席位征集中</a:t>
            </a:r>
            <a:endParaRPr sz="1300" b="1">
              <a:solidFill>
                <a:srgbClr val="CE7A00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515600" cy="12801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CE7A00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大厂 / 云厂商 CTO  →  在 agent 产品支持 ATD binding  →  APWG 治理话语权</a:t>
            </a:r>
            <a:endParaRPr sz="1100">
              <a:solidFill>
                <a:srgbClr val="1F202D"/>
              </a:solidFill>
              <a:latin typeface="微软雅黑"/>
            </a:endParaRP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CE7A00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特定领域征集  —  vendor:huawei:*  ·  vendor:xiaomi:*  ·  企业 SaaS  ·  医疗 IoT  ·  金融</a:t>
            </a:r>
            <a:endParaRPr sz="1100">
              <a:solidFill>
                <a:srgbClr val="1F202D"/>
              </a:solidFill>
              <a:latin typeface="微软雅黑"/>
            </a:endParaRP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CE7A00"/>
                </a:solidFill>
                <a:latin typeface="Calibri"/>
              </a:rPr>
              <a:t>—  </a:t>
            </a:r>
            <a:r>
              <a:rPr sz="1100">
                <a:solidFill>
                  <a:srgbClr val="1F202D"/>
                </a:solidFill>
                <a:latin typeface="微软雅黑"/>
              </a:rPr>
              <a:t>Phase 3 升格时  ·  Founding Adopter 自动进 W3C / IETF 工作组</a:t>
            </a:r>
            <a:endParaRPr sz="110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31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GET STARTED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你现在可以做什么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3152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0">
                <a:solidFill>
                  <a:srgbClr val="122F4E"/>
                </a:solidFill>
                <a:latin typeface="Calibri"/>
              </a:rPr>
              <a:t>01</a:t>
            </a:r>
            <a:endParaRPr sz="22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25603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1F202D"/>
                </a:solidFill>
                <a:latin typeface="微软雅黑"/>
              </a:rPr>
              <a:t>Install</a:t>
            </a:r>
            <a:endParaRPr sz="15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10058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Consolas"/>
              </a:rPr>
              <a:t>cargo add atd-client · pip install atd-client · npm @atd-protocol/client</a:t>
            </a:r>
            <a:endParaRPr sz="1100" b="0">
              <a:solidFill>
                <a:srgbClr val="555868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587752"/>
            <a:ext cx="73152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0">
                <a:solidFill>
                  <a:srgbClr val="122F4E"/>
                </a:solidFill>
                <a:latin typeface="Calibri"/>
              </a:rPr>
              <a:t>02</a:t>
            </a:r>
            <a:endParaRPr sz="22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45920" y="2633472"/>
            <a:ext cx="25603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1F202D"/>
                </a:solidFill>
                <a:latin typeface="微软雅黑"/>
              </a:rPr>
              <a:t>Hello World</a:t>
            </a:r>
            <a:endParaRPr sz="15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45920" y="2953512"/>
            <a:ext cx="10058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Consolas"/>
              </a:rPr>
              <a:t>10 行代码 · &lt;15 分钟首次 call</a:t>
            </a:r>
            <a:endParaRPr sz="1100" b="0">
              <a:solidFill>
                <a:srgbClr val="555868"/>
              </a:solidFill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255264"/>
            <a:ext cx="73152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0">
                <a:solidFill>
                  <a:srgbClr val="122F4E"/>
                </a:solidFill>
                <a:latin typeface="Calibri"/>
              </a:rPr>
              <a:t>03</a:t>
            </a:r>
            <a:endParaRPr sz="22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45920" y="3300984"/>
            <a:ext cx="25603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1F202D"/>
                </a:solidFill>
                <a:latin typeface="微软雅黑"/>
              </a:rPr>
              <a:t>Add Skill</a:t>
            </a:r>
            <a:endParaRPr sz="15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45920" y="3621024"/>
            <a:ext cx="10058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Consolas"/>
              </a:rPr>
              <a:t>SKILL.md 加 atd-tools: required / optional 字段</a:t>
            </a:r>
            <a:endParaRPr sz="1100" b="0">
              <a:solidFill>
                <a:srgbClr val="555868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922776"/>
            <a:ext cx="73152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0">
                <a:solidFill>
                  <a:srgbClr val="122F4E"/>
                </a:solidFill>
                <a:latin typeface="Calibri"/>
              </a:rPr>
              <a:t>04</a:t>
            </a:r>
            <a:endParaRPr sz="22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45920" y="3968496"/>
            <a:ext cx="25603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1F202D"/>
                </a:solidFill>
                <a:latin typeface="微软雅黑"/>
              </a:rPr>
              <a:t>Migrate MCP</a:t>
            </a:r>
            <a:endParaRPr sz="15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5920" y="4288536"/>
            <a:ext cx="10058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Consolas"/>
              </a:rPr>
              <a:t>MCP server 加一份 ATD manifest · 零代码改动</a:t>
            </a:r>
            <a:endParaRPr sz="1100" b="0">
              <a:solidFill>
                <a:srgbClr val="555868"/>
              </a:solidFill>
              <a:latin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4590288"/>
            <a:ext cx="73152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0">
                <a:solidFill>
                  <a:srgbClr val="122F4E"/>
                </a:solidFill>
                <a:latin typeface="Calibri"/>
              </a:rPr>
              <a:t>05</a:t>
            </a:r>
            <a:endParaRPr sz="22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45920" y="4636007"/>
            <a:ext cx="25603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1F202D"/>
                </a:solidFill>
                <a:latin typeface="微软雅黑"/>
              </a:rPr>
              <a:t>Enterprise Tools</a:t>
            </a:r>
            <a:endParaRPr sz="15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45920" y="4956048"/>
            <a:ext cx="10058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Consolas"/>
              </a:rPr>
              <a:t>OpenAPI → ATD  ·  atd-gen-openapi 一键生成</a:t>
            </a:r>
            <a:endParaRPr sz="1100" b="0">
              <a:solidFill>
                <a:srgbClr val="555868"/>
              </a:solidFill>
              <a:latin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73152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200" b="0">
                <a:solidFill>
                  <a:srgbClr val="122F4E"/>
                </a:solidFill>
                <a:latin typeface="Calibri"/>
              </a:rPr>
              <a:t>06</a:t>
            </a:r>
            <a:endParaRPr sz="2200" b="0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45920" y="5303520"/>
            <a:ext cx="25603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1F202D"/>
                </a:solidFill>
                <a:latin typeface="微软雅黑"/>
              </a:rPr>
              <a:t>Join APWG</a:t>
            </a:r>
            <a:endParaRPr sz="1500" b="1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45920" y="5623560"/>
            <a:ext cx="10058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555868"/>
                </a:solidFill>
                <a:latin typeface="Consolas"/>
              </a:rPr>
              <a:t>Founding Adopter 席位申请  ·  ATD v3 协议演化共建</a:t>
            </a:r>
            <a:endParaRPr sz="1100" b="0">
              <a:solidFill>
                <a:srgbClr val="555868"/>
              </a:solidFill>
              <a:latin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32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457200"/>
            <a:ext cx="2103120" cy="36576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20116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22F4E"/>
                </a:solidFill>
                <a:latin typeface="Calibri"/>
              </a:rPr>
              <a:t>FURTHER READING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3000" b="0">
                <a:solidFill>
                  <a:srgbClr val="1F202D"/>
                </a:solidFill>
                <a:latin typeface="微软雅黑"/>
              </a:rPr>
              <a:t>参考资源</a:t>
            </a:r>
            <a:endParaRPr sz="3000" b="0">
              <a:solidFill>
                <a:srgbClr val="1F202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122F4E"/>
                </a:solidFill>
                <a:latin typeface="Calibri"/>
              </a:rPr>
              <a:t>WHITEPAPERS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Consolas"/>
              </a:rPr>
              <a:t>toward-agent-tool-dispatch-v3.md  ·  v3 协议主体</a:t>
            </a:r>
            <a:endParaRPr sz="1100" b="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Consolas"/>
              </a:rPr>
              <a:t>toward-agent-tool-dispatch-v2.md  ·  v2 前序版本（v3 superset）</a:t>
            </a:r>
            <a:endParaRPr sz="1100" b="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Consolas"/>
              </a:rPr>
              <a:t>toward-agent-tool-dispatch.md     ·  v1 formal / 学术版</a:t>
            </a:r>
            <a:endParaRPr sz="1100" b="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Consolas"/>
              </a:rPr>
              <a:t>toward-skills-design-principles.md v1.1  ·  Twelve-Factor Skills</a:t>
            </a:r>
            <a:endParaRPr sz="1100" b="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122F4E"/>
                </a:solidFill>
                <a:latin typeface="Calibri"/>
              </a:rPr>
              <a:t>APPLIED DESIGN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2960" y="4343400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Consolas"/>
              </a:rPr>
              <a:t>atd-for-hms-core-design.md     ·  HMS Core 5×3 Flagship Matrix</a:t>
            </a:r>
            <a:endParaRPr sz="1100" b="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Consolas"/>
              </a:rPr>
              <a:t>why-atd-for-hms-core.md        ·  HMS BU 战略 briefing</a:t>
            </a:r>
            <a:endParaRPr sz="1100" b="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Consolas"/>
              </a:rPr>
              <a:t>atd-mvp/                       ·  Client SDK 独立参考实装</a:t>
            </a:r>
            <a:endParaRPr sz="1100" b="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122F4E"/>
                </a:solidFill>
                <a:latin typeface="Calibri"/>
              </a:rPr>
              <a:t>EXTERNAL STANDARDS</a:t>
            </a:r>
            <a:endParaRPr sz="1000" b="1">
              <a:solidFill>
                <a:srgbClr val="122F4E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2960" y="6126479"/>
            <a:ext cx="10545775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Consolas"/>
              </a:rPr>
              <a:t>agentskills.io  ·  SKILL.md 开放标准</a:t>
            </a:r>
            <a:endParaRPr sz="1100" b="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6583679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0">
                <a:solidFill>
                  <a:srgbClr val="1F202D"/>
                </a:solidFill>
                <a:latin typeface="Consolas"/>
              </a:rPr>
              <a:t>HMS Core docs / HarmonyOS NEXT / HIMA 联盟</a:t>
            </a:r>
            <a:endParaRPr sz="1100" b="0">
              <a:solidFill>
                <a:srgbClr val="1F202D"/>
              </a:solidFill>
              <a:latin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109728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900">
                <a:solidFill>
                  <a:srgbClr val="9093A0"/>
                </a:solidFill>
                <a:latin typeface="Calibri"/>
              </a:rPr>
              <a:t>33 / 34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4572000" cy="2286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>
                <a:solidFill>
                  <a:srgbClr val="9093A0"/>
                </a:solidFill>
                <a:latin typeface="Calibri"/>
              </a:rPr>
              <a:t>ATD White Paper v3.0</a:t>
            </a:r>
            <a:endParaRPr sz="900">
              <a:solidFill>
                <a:srgbClr val="9093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457200" cy="36576"/>
          </a:xfrm>
          <a:prstGeom prst="rect">
            <a:avLst/>
          </a:prstGeom>
          <a:solidFill>
            <a:srgbClr val="CE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5486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CE7A00"/>
                </a:solidFill>
                <a:latin typeface="Calibri"/>
              </a:rPr>
              <a:t>Thank you</a:t>
            </a:r>
            <a:endParaRPr sz="1000" b="0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698480" cy="13716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4800">
                <a:solidFill>
                  <a:srgbClr val="1F202D"/>
                </a:solidFill>
                <a:latin typeface="微软雅黑"/>
              </a:rPr>
              <a:t>一起建  </a:t>
            </a:r>
            <a:r>
              <a:rPr sz="4800" b="1">
                <a:solidFill>
                  <a:srgbClr val="122F4E"/>
                </a:solidFill>
                <a:latin typeface="微软雅黑"/>
              </a:rPr>
              <a:t>Agent 时代的 POSIX</a:t>
            </a:r>
            <a:endParaRPr sz="4800" b="1">
              <a:solidFill>
                <a:srgbClr val="122F4E"/>
              </a:solidFill>
              <a:latin typeface="微软雅黑"/>
            </a:endParaRPr>
          </a:p>
          <a:p>
            <a:r>
              <a:rPr sz="2000" i="1">
                <a:solidFill>
                  <a:srgbClr val="555868"/>
                </a:solidFill>
                <a:latin typeface="Calibri"/>
              </a:rPr>
              <a:t>Build the POSIX of the Autonomous Agent Era, together.</a:t>
            </a:r>
            <a:endParaRPr sz="2000" i="1">
              <a:solidFill>
                <a:srgbClr val="555868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5029200"/>
            <a:ext cx="10698480" cy="13716"/>
          </a:xfrm>
          <a:prstGeom prst="rect">
            <a:avLst/>
          </a:prstGeom>
          <a:solidFill>
            <a:srgbClr val="E3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CE7A00"/>
                </a:solidFill>
                <a:latin typeface="Calibri"/>
              </a:rPr>
              <a:t>CONTACT</a:t>
            </a:r>
            <a:endParaRPr sz="1000" b="1">
              <a:solidFill>
                <a:srgbClr val="CE7A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64592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9093A0"/>
                </a:solidFill>
                <a:latin typeface="Calibri"/>
              </a:rPr>
              <a:t>GITHUB</a:t>
            </a:r>
            <a:endParaRPr sz="1000" b="1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0" y="5623560"/>
            <a:ext cx="91440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0">
                <a:solidFill>
                  <a:srgbClr val="1F202D"/>
                </a:solidFill>
                <a:latin typeface="Calibri"/>
              </a:rPr>
              <a:t>github.com/atd-protocol  (筹建中)</a:t>
            </a:r>
            <a:endParaRPr sz="1300" b="0">
              <a:solidFill>
                <a:srgbClr val="1F202D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5916168"/>
            <a:ext cx="164592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9093A0"/>
                </a:solidFill>
                <a:latin typeface="Calibri"/>
              </a:rPr>
              <a:t>EMAIL</a:t>
            </a:r>
            <a:endParaRPr sz="1000" b="1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86000" y="5916168"/>
            <a:ext cx="91440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0">
                <a:solidFill>
                  <a:srgbClr val="1F202D"/>
                </a:solidFill>
                <a:latin typeface="Calibri"/>
              </a:rPr>
              <a:t>feedback@atd-protocol.org  (筹建中)</a:t>
            </a:r>
            <a:endParaRPr sz="1300" b="0">
              <a:solidFill>
                <a:srgbClr val="1F202D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6208776"/>
            <a:ext cx="164592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9093A0"/>
                </a:solidFill>
                <a:latin typeface="Calibri"/>
              </a:rPr>
              <a:t>APWG</a:t>
            </a:r>
            <a:endParaRPr sz="1000" b="1">
              <a:solidFill>
                <a:srgbClr val="9093A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6000" y="6208776"/>
            <a:ext cx="91440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0">
                <a:solidFill>
                  <a:srgbClr val="1F202D"/>
                </a:solidFill>
                <a:latin typeface="Calibri"/>
              </a:rPr>
              <a:t>Founding Adopter 席位征集中</a:t>
            </a:r>
            <a:endParaRPr sz="1300" b="0">
              <a:solidFill>
                <a:srgbClr val="1F202D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16790</Words>
  <Application>WPS 演示</Application>
  <PresentationFormat>On-screen Show (4:3)</PresentationFormat>
  <Paragraphs>1574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0" baseType="lpstr">
      <vt:lpstr>Arial</vt:lpstr>
      <vt:lpstr>宋体</vt:lpstr>
      <vt:lpstr>Wingdings</vt:lpstr>
      <vt:lpstr>Arial</vt:lpstr>
      <vt:lpstr>DejaVu Sans</vt:lpstr>
      <vt:lpstr>Calibri</vt:lpstr>
      <vt:lpstr>微软雅黑</vt:lpstr>
      <vt:lpstr>Droid Sans Fallback</vt:lpstr>
      <vt:lpstr>微软雅黑</vt:lpstr>
      <vt:lpstr>宋体</vt:lpstr>
      <vt:lpstr>Arial Unicode MS</vt:lpstr>
      <vt:lpstr>Noto Serif CJK SC</vt:lpstr>
      <vt:lpstr>Consolas</vt:lpstr>
      <vt:lpstr>PakType Naskh Basic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nice</cp:lastModifiedBy>
  <cp:revision>2</cp:revision>
  <dcterms:created xsi:type="dcterms:W3CDTF">2026-04-24T00:50:02Z</dcterms:created>
  <dcterms:modified xsi:type="dcterms:W3CDTF">2026-04-24T00:50:02Z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97DAEF0804E49FCC3ABEEA6946AEC187_42</vt:lpwstr>
  </property>
  <property fmtid="{D5CDD505-2E9C-101B-9397-08002B2CF9AE}" pid="3" name="KSOProductBuildVer">
    <vt:lpwstr>2052-12.1.2.25882</vt:lpwstr>
  </property>
</Properties>
</file>