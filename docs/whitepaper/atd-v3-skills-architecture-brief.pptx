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完整架构：Agent × Skill × ATD × Bindings × Tools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Skill 是剧本层，ATD 是工具 dispatch 层；两层正交互补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4114800" cy="4572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用户 Intent (语音 / 文本 / 触发器)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114800" cy="5943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Agent Framework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(Claude · GPT · Gemini · 自研)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920240" cy="914400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Skill Layer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SKILL.md + atd-tools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(剧本 · progressive disclosure)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697480"/>
            <a:ext cx="2011680" cy="914400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(直接 tool 调用)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无 Skill 中介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简单 / 一次性任务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691640" y="2423160"/>
            <a:ext cx="228600" cy="274320"/>
          </a:xfrm>
          <a:prstGeom prst="line">
            <a:avLst/>
          </a:prstGeom>
          <a:ln w="190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2423160"/>
            <a:ext cx="822960" cy="27432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91640" y="3611880"/>
            <a:ext cx="1097280" cy="320040"/>
          </a:xfrm>
          <a:prstGeom prst="line">
            <a:avLst/>
          </a:prstGeom>
          <a:ln w="190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788920" y="3611880"/>
            <a:ext cx="1051560" cy="32004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3931920"/>
            <a:ext cx="4114800" cy="502920"/>
          </a:xfrm>
          <a:prstGeom prst="roundRect">
            <a:avLst/>
          </a:prstGeom>
          <a:solidFill>
            <a:srgbClr val="144E97"/>
          </a:solidFill>
          <a:ln w="12700">
            <a:solidFill>
              <a:srgbClr val="144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ATD Client SDK  ·  discover / describe / call /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4114800" cy="777240"/>
          </a:xfrm>
          <a:prstGeom prst="roundRect">
            <a:avLst/>
          </a:prstGeom>
          <a:solidFill>
            <a:srgbClr val="008C8C"/>
          </a:solidFill>
          <a:ln w="1270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ATD Dispatch Layer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Device Routing · Capability Token · H/W/C · Middleware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777240" cy="502920"/>
          </a:xfrm>
          <a:prstGeom prst="roundRect">
            <a:avLst/>
          </a:prstGeom>
          <a:solidFill>
            <a:srgbClr val="E58B00"/>
          </a:solidFill>
          <a:ln w="12700">
            <a:solidFill>
              <a:srgbClr val="E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63624" y="5486400"/>
            <a:ext cx="777240" cy="502920"/>
          </a:xfrm>
          <a:prstGeom prst="roundRect">
            <a:avLst/>
          </a:prstGeom>
          <a:solidFill>
            <a:srgbClr val="E58B00"/>
          </a:solidFill>
          <a:ln w="12700">
            <a:solidFill>
              <a:srgbClr val="E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5728" y="5486400"/>
            <a:ext cx="777240" cy="502920"/>
          </a:xfrm>
          <a:prstGeom prst="roundRect">
            <a:avLst/>
          </a:prstGeom>
          <a:solidFill>
            <a:srgbClr val="E58B00"/>
          </a:solidFill>
          <a:ln w="12700">
            <a:solidFill>
              <a:srgbClr val="E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5486400"/>
            <a:ext cx="777240" cy="502920"/>
          </a:xfrm>
          <a:prstGeom prst="roundRect">
            <a:avLst/>
          </a:prstGeom>
          <a:solidFill>
            <a:srgbClr val="E58B00"/>
          </a:solidFill>
          <a:ln w="12700">
            <a:solidFill>
              <a:srgbClr val="E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AppFunc[]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59936" y="5486400"/>
            <a:ext cx="777240" cy="502920"/>
          </a:xfrm>
          <a:prstGeom prst="roundRect">
            <a:avLst/>
          </a:prstGeom>
          <a:solidFill>
            <a:srgbClr val="E58B00"/>
          </a:solidFill>
          <a:ln w="12700">
            <a:solidFill>
              <a:srgbClr val="E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172200"/>
            <a:ext cx="4114800" cy="3657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Tool Universe × 7 Device Classes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88920" y="1645920"/>
            <a:ext cx="0" cy="18288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88920" y="4434840"/>
            <a:ext cx="0" cy="13716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88920" y="5349240"/>
            <a:ext cx="0" cy="13716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88920" y="5989320"/>
            <a:ext cx="0" cy="18288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94960" y="11887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各层职责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1645920"/>
            <a:ext cx="1554480" cy="5943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171907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接收 intent · 推理 · 发起 tool call / 激活 Skill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2359152"/>
            <a:ext cx="1554480" cy="594360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43230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剧本 · 多步骤组合 · progressive disclosure · atd-tools 声明依赖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3072384"/>
            <a:ext cx="1554480" cy="594360"/>
          </a:xfrm>
          <a:prstGeom prst="roundRect">
            <a:avLst/>
          </a:prstGeom>
          <a:solidFill>
            <a:srgbClr val="144E97"/>
          </a:solidFill>
          <a:ln w="12700">
            <a:solidFill>
              <a:srgbClr val="144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Client SDK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145536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统一的 3 语言 API · 名称 sanitize · capability token 封装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60" y="3785615"/>
            <a:ext cx="1554480" cy="594360"/>
          </a:xfrm>
          <a:prstGeom prst="roundRect">
            <a:avLst/>
          </a:prstGeom>
          <a:solidFill>
            <a:srgbClr val="008C8C"/>
          </a:solidFill>
          <a:ln w="1270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Dispatch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85876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device affinity 路由 · UCAN 验证 · result middleware · H/W/C tier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4960" y="4498848"/>
            <a:ext cx="1554480" cy="594360"/>
          </a:xfrm>
          <a:prstGeom prst="roundRect">
            <a:avLst/>
          </a:prstGeom>
          <a:solidFill>
            <a:srgbClr val="E58B00"/>
          </a:solidFill>
          <a:ln w="12700">
            <a:solidFill>
              <a:srgbClr val="E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Bindings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57200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CLI · MCP · REST · AppFunction (per device×vendor×platform) · Distributed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5212080"/>
            <a:ext cx="1554480" cy="5943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28523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102+ 内置 · host plugin · MCP server · AppIntent · WearEngine · HMS kits · 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603504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72424"/>
                </a:solidFill>
                <a:latin typeface="Microsoft YaHei"/>
              </a:rPr>
              <a:t>Skills (剧本) ≈ Python stdlib   ·   ATD (原子能力) ≈ POSIX   ·   Agent ≈ Django 应用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 /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ATD v3 × Skills v1.1 ·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调用方式 A：Agent 直接调 ATD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适用：一次性 / 简单任务 / agent 已经知道确切要调的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4E97"/>
                </a:solidFill>
                <a:latin typeface="Microsoft YaHei"/>
              </a:rPr>
              <a:t>执行流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457200" cy="5029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600200"/>
            <a:ext cx="21031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F3A"/>
                </a:solidFill>
                <a:latin typeface="Microsoft YaHei"/>
              </a:rPr>
              <a:t>Agent 收到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"我现在心率多少"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21992"/>
            <a:ext cx="457200" cy="502920"/>
          </a:xfrm>
          <a:prstGeom prst="roundRect">
            <a:avLst/>
          </a:prstGeom>
          <a:solidFill>
            <a:srgbClr val="144E97"/>
          </a:solidFill>
          <a:ln w="12700">
            <a:solidFill>
              <a:srgbClr val="144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221992"/>
            <a:ext cx="21031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44E97"/>
                </a:solidFill>
                <a:latin typeface="Microsoft YaHei"/>
              </a:rPr>
              <a:t>LLM 推理 → 决定调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134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tool_id = hms:health.heart_rate.get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43784"/>
            <a:ext cx="457200" cy="502920"/>
          </a:xfrm>
          <a:prstGeom prst="roundRect">
            <a:avLst/>
          </a:prstGeom>
          <a:solidFill>
            <a:srgbClr val="008C8C"/>
          </a:solidFill>
          <a:ln w="1270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843784"/>
            <a:ext cx="21031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8C8C"/>
                </a:solidFill>
                <a:latin typeface="Microsoft YaHei"/>
              </a:rPr>
              <a:t>client.call(tool_id, args)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9352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SDK 打包请求 + capability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65576"/>
            <a:ext cx="457200" cy="502920"/>
          </a:xfrm>
          <a:prstGeom prst="roundRect">
            <a:avLst/>
          </a:prstGeom>
          <a:solidFill>
            <a:srgbClr val="E58B00"/>
          </a:solidFill>
          <a:ln w="12700">
            <a:solidFill>
              <a:srgbClr val="E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465576"/>
            <a:ext cx="21031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58B00"/>
                </a:solidFill>
                <a:latin typeface="Microsoft YaHei"/>
              </a:rPr>
              <a:t>Dispatch 路由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55701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device.preferred=[watch] → 选 Wear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87368"/>
            <a:ext cx="457200" cy="502920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087368"/>
            <a:ext cx="21031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A1B9A"/>
                </a:solidFill>
                <a:latin typeface="Microsoft YaHei"/>
              </a:rPr>
              <a:t>Binding 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1788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ArkTS HealthDataProvider.getCurrentHeartRate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457200" cy="50292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709160"/>
            <a:ext cx="21031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8B57"/>
                </a:solidFill>
                <a:latin typeface="Microsoft YaHei"/>
              </a:rPr>
              <a:t>Middleware 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800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pii_redact(source_device_id)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30952"/>
            <a:ext cx="457200" cy="50292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330952"/>
            <a:ext cx="21031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Microsoft YaHei"/>
              </a:rPr>
              <a:t>返回结果 → Agent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4223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{bpm: 72, confidence: 0.95, ...}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4E97"/>
                </a:solidFill>
                <a:latin typeface="Microsoft YaHei"/>
              </a:rPr>
              <a:t>Agent 代码（Python）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1600200"/>
            <a:ext cx="5486400" cy="3657600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37160" rIns="137160"/>
          <a:lstStyle/>
          <a:p>
            <a:pPr algn="ctr"/>
            <a:r>
              <a:rPr sz="1000">
                <a:solidFill>
                  <a:srgbClr val="D4D4E0"/>
                </a:solidFill>
                <a:latin typeface="Consolas"/>
              </a:rPr>
              <a:t>from atd_client import AtdClient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client = await AtdClient.connect(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'unix:///home/me/.anos/anos.sock')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# 1. 发现（可选，若已知 id 可跳过）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tools = await client.discover(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query='heart rate', limit=5)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# 2. 直接调用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result = await client.call(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'hms:health.heart_rate.get',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args={},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options=CallOptions(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  session='lily-ambient',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  capability_token=tok))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# 3. 消费结果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print(f'BPM: {result.data["bpm"]}')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YaHei"/>
              </a:rPr>
              <a:t>特征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7150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7150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控制精细：agent 决定每个 tool id / 参数 / session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97103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Microsoft YaHei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97103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Token 成本低：无 skill body 加载，仅 tool schema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622706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4E97"/>
                </a:solidFill>
                <a:latin typeface="Microsoft YaHei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622706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适合 one-shot 查询、测试、主 agent 熟知的核心能力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648309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8B00"/>
                </a:solidFill>
                <a:latin typeface="Microsoft YaHei"/>
              </a:rPr>
              <a:t>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648309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不适合多步工作流（重复代码 · 无复用）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 /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ATD v3 × Skills v1.1 · 2026-04-23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调用方式 B：Skill 配置调用 ATD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适用：多步骤剧本 / 可复用任务 / 需要 install-time 依赖校验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Microsoft YaHei"/>
              </a:rPr>
              <a:t>SKILL.md 声明 ATD 依赖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669280" cy="4114800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37160" rIns="137160"/>
          <a:lstStyle/>
          <a:p>
            <a:pPr algn="ctr"/>
            <a:r>
              <a:rPr sz="1000">
                <a:solidFill>
                  <a:srgbClr val="D4D4E0"/>
                </a:solidFill>
                <a:latin typeface="Consolas"/>
              </a:rPr>
              <a:t>---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name: "@acme/morning-briefing@1.0"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description: |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Summarize last night sleep + today's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calendar + weather. Activate on 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"good morning" before noon.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device: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preferred: [phone, tablet]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atd-tools: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required: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hms:health.sleep.get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hms:location.current.get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optional: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calendar.get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weather.get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allowed-tools: [Read, atd.call]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---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# Morning Briefing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## Steps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1. Call `hms:health.sleep.get(date: yesterday)`.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2. If calendar available, call `calendar.get`.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3. Call `hms:location.current.get` → weather.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4. Synthesize 100-word briefing in markdown.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Microsoft YaHei"/>
              </a:rPr>
              <a:t>执行流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00200"/>
            <a:ext cx="411480" cy="41148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67335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Agent 收到 intent "早上好"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103120"/>
            <a:ext cx="411480" cy="411480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7627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description-match → 激活 @acme/morning-briefing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606040"/>
            <a:ext cx="411480" cy="411480"/>
          </a:xfrm>
          <a:prstGeom prst="roundRect">
            <a:avLst/>
          </a:prstGeom>
          <a:solidFill>
            <a:srgbClr val="144E97"/>
          </a:solidFill>
          <a:ln w="12700">
            <a:solidFill>
              <a:srgbClr val="144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67919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Runtime 用 atd-tools 校验 → 派生 attenuated capability token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108960"/>
            <a:ext cx="411480" cy="41148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18211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Skill body 进入 agent context（progressive disclosure）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611880"/>
            <a:ext cx="411480" cy="411480"/>
          </a:xfrm>
          <a:prstGeom prst="roundRect">
            <a:avLst/>
          </a:prstGeom>
          <a:solidFill>
            <a:srgbClr val="008C8C"/>
          </a:solidFill>
          <a:ln w="1270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68503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LLM 按 body 步骤**依次**调 ATD tool（ATD call A → B → C）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114800"/>
            <a:ext cx="411480" cy="411480"/>
          </a:xfrm>
          <a:prstGeom prst="roundRect">
            <a:avLst/>
          </a:prstGeom>
          <a:solidFill>
            <a:srgbClr val="E58B00"/>
          </a:solidFill>
          <a:ln w="12700">
            <a:solidFill>
              <a:srgbClr val="E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18795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每次 ATD call 走完整 dispatch（device / binding / middleware）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617720"/>
            <a:ext cx="411480" cy="41148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69087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Skill 内部综合输出（100-word markdown 摘要）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166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YaHei"/>
              </a:rPr>
              <a:t>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Microsoft YaHei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4864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Install 时 atd-tools 校验：环境缺 tool → skill 不可安装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72414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4E97"/>
                </a:solidFill>
                <a:latin typeface="Microsoft YaHei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72414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Capability token 按 skill 粒度 attenuate（§VI 最小权限）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96188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A1B9A"/>
                </a:solidFill>
                <a:latin typeface="Microsoft YaHe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96188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Skill 可复用、可版本化、可跨 agent 移植（SKILL.md 标准）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619963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C8C"/>
                </a:solidFill>
                <a:latin typeface="Microsoft YaHe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619963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跨设备组合可行：skill body 说 session.handoff()，dispatch 自动处理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643737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8B00"/>
                </a:solidFill>
                <a:latin typeface="Microsoft YaHei"/>
              </a:rPr>
              <a:t>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64373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Token 成本高于直接调用（body 进 context）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5669280" cy="594360"/>
          </a:xfrm>
          <a:prstGeom prst="roundRect">
            <a:avLst/>
          </a:prstGeom>
          <a:solidFill>
            <a:srgbClr val="B72424"/>
          </a:solidFill>
          <a:ln w="12700">
            <a:solidFill>
              <a:srgbClr val="B7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Skill = 剧本层（何时/按什么顺序调）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ATD = 原子能力层（怎么真正调到工具）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 /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ATD v3 × Skills v1.1 · 2026-04-23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