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182880"/>
            <a:ext cx="566928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0" b="1" dirty="0">
                <a:solidFill>
                  <a:srgbClr val="1F305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566928" y="1993392"/>
            <a:ext cx="182880" cy="2788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50976" y="16276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一 部分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0976" y="210312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背景与必要性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50976" y="41148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调用工具的现状为什么不够用 —— 对比 CLI / MCP / REST，</a:t>
            </a:r>
            <a:endParaRPr lang="en-US" sz="15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究竟解决了哪些现有技术解决不了的问题。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50976" y="5175504"/>
            <a:ext cx="6035040" cy="0"/>
          </a:xfrm>
          <a:prstGeom prst="line">
            <a:avLst/>
          </a:prstGeom>
          <a:noFill/>
          <a:ln w="12700">
            <a:solidFill>
              <a:srgbClr val="2C3D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53035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工具碎片化，是 agent 可靠性的隐形天花板。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" y="6089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C9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Agent Tool Dispatch  ·  中立 · 跨厂商 · 开源 (Apache-2.0)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AGENDA · 本部分导览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本部分内容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18488" y="1783080"/>
            <a:ext cx="4206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断层在哪里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07608" y="1783080"/>
            <a:ext cx="5614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与它要调用的工具之间，缺一层契约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31343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377440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18488" y="2377440"/>
            <a:ext cx="4206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四种工具形态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007608" y="2377440"/>
            <a:ext cx="5614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 / REST / MCP / 原生 SDK —— 互不兼容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90779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971800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18488" y="2971800"/>
            <a:ext cx="4206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「任意」的四重诉求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007608" y="2971800"/>
            <a:ext cx="5614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任意 agent、框架、平台，调任意工具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50215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566160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18488" y="3566160"/>
            <a:ext cx="4206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ATD 的定位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007608" y="3566160"/>
            <a:ext cx="5614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一层中立的 agent ↔ 工具调度协议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09651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160520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18488" y="4160520"/>
            <a:ext cx="4206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实证：三轮 case study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007608" y="4160520"/>
            <a:ext cx="5614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成功率 24% → 95% → 2-vs-8 次调用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69087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754880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618488" y="4754880"/>
            <a:ext cx="4206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对比 CLI / MCP / REST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007608" y="4754880"/>
            <a:ext cx="5614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逐项拆解它们解决不了的问题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285232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5349240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618488" y="5349240"/>
            <a:ext cx="4206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ATD 独有的痛点闭环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007608" y="5349240"/>
            <a:ext cx="5614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协议层一次解决，而非每家重写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第一部分 · 背景与必要性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1371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32688" y="1828800"/>
            <a:ext cx="640080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121408"/>
            <a:ext cx="103235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0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LLM agent 的能力上限，往往不在模型本身，</a:t>
            </a:r>
            <a:endParaRPr lang="en-US" sz="30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0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而在它能不能可靠地「把工具调对」。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" y="4709160"/>
            <a:ext cx="9774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模型推理逐年变强；但 agent 真正要调用的工具，今天仍是一堆形态各异、各说各话、缺少统一契约的接口。调不对、调错路径、调用不可观测 —— 这些都不是模型问题。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2688" y="6126480"/>
            <a:ext cx="9226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C9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实证见后文 healthkit_cli 三轮 case study（同模型、同 prompt、可复算）。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现状 · 工具碎片化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Agent 面对的，是四种互不兼容的工具形态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同一个「调用一个工具」的动作，今天有四套完全不同的接口形态 —— agent 要么逐套适配，要么逐套踩坑。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540867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231136"/>
            <a:ext cx="5408676" cy="54864"/>
          </a:xfrm>
          <a:prstGeom prst="rect">
            <a:avLst/>
          </a:prstGeom>
          <a:solidFill>
            <a:srgbClr val="F2B44C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432304"/>
            <a:ext cx="4951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B4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CLI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2852928"/>
            <a:ext cx="49514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命令行工具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291840"/>
            <a:ext cx="495147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靠 --help 文本描述自己；flag 增减无版本契约；输出是非结构化 stdout。LLM 只能「猜命令、猜参数」。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13348" y="2231136"/>
            <a:ext cx="540867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3348" y="2231136"/>
            <a:ext cx="5408676" cy="54864"/>
          </a:xfrm>
          <a:prstGeom prst="rect">
            <a:avLst/>
          </a:prstGeom>
          <a:solidFill>
            <a:srgbClr val="F2B44C"/>
          </a:solidFill>
          <a:ln/>
        </p:spPr>
      </p:sp>
      <p:sp>
        <p:nvSpPr>
          <p:cNvPr id="13" name="Text 11"/>
          <p:cNvSpPr/>
          <p:nvPr/>
        </p:nvSpPr>
        <p:spPr>
          <a:xfrm>
            <a:off x="6451092" y="2432304"/>
            <a:ext cx="4951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B4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REST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51092" y="2852928"/>
            <a:ext cx="49514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HTTP / REST 端点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51092" y="3291840"/>
            <a:ext cx="495147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每家鉴权、分页、错误体各不相同；OpenAPI 是文档格式、不是 agent 调度协议 —— 每个 API 仍要手写一遍适配。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66928" y="4229100"/>
            <a:ext cx="540867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4229100"/>
            <a:ext cx="5408676" cy="5486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430268"/>
            <a:ext cx="4951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DF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MCP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04672" y="4850892"/>
            <a:ext cx="49514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Model Context Protocol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" y="5289804"/>
            <a:ext cx="495147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解决了「客户端怎么连」，但没有服务端治理：能力门禁、限流、多租户、审计规范一概空缺。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213348" y="4229100"/>
            <a:ext cx="540867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3348" y="4229100"/>
            <a:ext cx="5408676" cy="54864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23" name="Text 21"/>
          <p:cNvSpPr/>
          <p:nvPr/>
        </p:nvSpPr>
        <p:spPr>
          <a:xfrm>
            <a:off x="6451092" y="4430268"/>
            <a:ext cx="49514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9DF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SDK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451092" y="4850892"/>
            <a:ext cx="49514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厂商原生 SDK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51092" y="5289804"/>
            <a:ext cx="495147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 agent 平台一套形状 —— Claude 的 tool ≠ OpenAI function ≠ App Intent。一个工具，N 份适配代码。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第一部分 · 背景与必要性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要成立的标准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「任意」的四重诉求 —— 互操作性主张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的目标可以拆成四个「任意」。每一个，今天都被碎片化卡住。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31136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197096"/>
              </a:tblGrid>
              <a:tr h="7516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维度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今天的碎片化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ATD 的答案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</a:tr>
              <a:tr h="7516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任意工具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CLI / REST / MCP / 原生 SDK —— 形状互不兼容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一份 ToolDefinition，映射到多种 binding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7516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任意平台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Linux / macOS / Windows / 移动端调用面各异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binding 选择在 dispatch 时由服务端决定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7516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任意 agent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Claude Code 无法直接消费 OpenAI function 形状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所有 agent 调同一 SDK，适配器渲染各家形状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7516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任意框架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98A8C4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LangChain tool ≠ MCP tool ≠ App Intent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一份定义，多种框架消费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第一部分 · 背景与必要性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2688" y="1371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的定位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32688" y="1828800"/>
            <a:ext cx="640080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121408"/>
            <a:ext cx="103235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0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ATD 是 agent 调用工具时的一层中立调度协议。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" y="4709160"/>
            <a:ext cx="9774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厂商把工具 host 成一个 ATD server（Unix socket 或 HTTP）；任意 agent 平台（Hermes / Claude Code / Cursor / 自研）通过同一套 wire 格式 discover / describe / call。中间层统一提供能力门禁、审计、多租户 token 路由、工具可见性、skill 同步 —— 这些都是 raw CLI 拉不出、raw MCP 没规范、每家自研都要重写一遍的东西。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2688" y="6126480"/>
            <a:ext cx="9226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C9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Agent Tool Dispatch · 跨厂商中立 · Apache-2.0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 · healthkit_cli 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实证：不是空谈，是同模型同 prompt 跑出来的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三轮真实 LLM session（Hermes + DeepSeek），工具 surface 是唯一变量，audit log 全程落盘可复算。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322576"/>
            <a:ext cx="2571750" cy="27889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322576"/>
            <a:ext cx="2571750" cy="54864"/>
          </a:xfrm>
          <a:prstGeom prst="rect">
            <a:avLst/>
          </a:prstGeom>
          <a:solidFill>
            <a:srgbClr val="F47B72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688336"/>
            <a:ext cx="227914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7B7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24%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49808" y="3986784"/>
            <a:ext cx="22059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F1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raw endpoint 成功率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86384" y="4407408"/>
            <a:ext cx="21328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02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v1.1.0：8 个许可式 schema 的 HMS REST 端点，79 次调用、66% 参数非法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394710" y="2322576"/>
            <a:ext cx="2571750" cy="27889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4710" y="2322576"/>
            <a:ext cx="2571750" cy="54864"/>
          </a:xfrm>
          <a:prstGeom prst="rect">
            <a:avLst/>
          </a:prstGeom>
          <a:solidFill>
            <a:srgbClr val="46D39A"/>
          </a:solidFill>
          <a:ln/>
        </p:spPr>
      </p:sp>
      <p:sp>
        <p:nvSpPr>
          <p:cNvPr id="13" name="Text 11"/>
          <p:cNvSpPr/>
          <p:nvPr/>
        </p:nvSpPr>
        <p:spPr>
          <a:xfrm>
            <a:off x="3541014" y="2688336"/>
            <a:ext cx="227914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6D39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95.2%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577590" y="3986784"/>
            <a:ext cx="22059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F1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helper-tool 成功率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14166" y="4407408"/>
            <a:ext cx="21328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02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v1.2.0：换成 26 个 ATD helper-tool，调用数 −73%，同模型同 prompt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222492" y="2322576"/>
            <a:ext cx="2571750" cy="27889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22492" y="2322576"/>
            <a:ext cx="257175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6368796" y="2688336"/>
            <a:ext cx="227914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 vs 8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405372" y="3986784"/>
            <a:ext cx="22059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F1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vs CLI 调用次数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1948" y="4407408"/>
            <a:ext cx="21328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02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v1.4.0：同 session 内 ATD 路径 2 次成功，CLI fallback 走 8 次、3 次错路径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9050274" y="2322576"/>
            <a:ext cx="2571750" cy="27889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50274" y="2322576"/>
            <a:ext cx="257175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9196578" y="2688336"/>
            <a:ext cx="227914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1.6s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9233154" y="3986784"/>
            <a:ext cx="22059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F1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首次拿到数据耗时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269730" y="4407408"/>
            <a:ext cx="21328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102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路径 call #1 即拿到；CLI fallback 到第 6 次（约 5s）才拿到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66928" y="534924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这是「协议层差异」，不是「工具能力差异」—— 工具底下是同一个 Huawei HMS HealthKit。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第一部分 · 背景与必要性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 · ATD path vs CLI fallback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v1.4.0 头对头：同一个 prompt，两条路径摆在 agent 面前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 Hermes session、同一 DeepSeek 模型、同一 prompt「从医生角度分析最近两个月心率」。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31136"/>
          <a:ext cx="11055096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77640"/>
                <a:gridCol w="3968496"/>
              </a:tblGrid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维度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ATD 路径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DD4B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CLI fallback 路径</a:t>
                      </a:r>
                      <a:endParaRPr lang="en-US" sz="11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056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调用次数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46D39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F47B7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8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总耗时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46D39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约 1.6 秒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F47B7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约 6 秒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走错路径次数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46D39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F47B7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3（错 wrapper、--offset 不存在 ×2）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审计可观测性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46D39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 条 audit 记录，完整结构化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F47B7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仅 shell log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 agent 自己知道 wrapper 命令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46D39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否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F47B7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是（双关键字 wrapper）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D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ECF1F9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 agent 自己知道后端 30 天上限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46D39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否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F47B7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是（撞错才知道）</a:t>
                      </a:r>
                      <a:endParaRPr lang="en-US" sz="106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第一部分 · 背景与必要性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横向对比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对比 CLI / MCP / REST —— 它们各自缺什么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三种现有技术都能「让程序调到工具」，但都不是为「LLM agent 可靠调度」设计的。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3514344" cy="375818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231136"/>
            <a:ext cx="3514344" cy="548640"/>
          </a:xfrm>
          <a:prstGeom prst="rect">
            <a:avLst/>
          </a:prstGeom>
          <a:solidFill>
            <a:srgbClr val="F2B44C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231136"/>
            <a:ext cx="3075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对比 raw CLI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852928"/>
            <a:ext cx="307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B44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命令行工具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3200400"/>
            <a:ext cx="3075432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ECF1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  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靠 --help 文本，混沌、无结构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86384" y="3842766"/>
            <a:ext cx="3075432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842766"/>
            <a:ext cx="3075432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ECF1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 agent 共享  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 进程 / N 配置 / N 套 OAuth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86384" y="4485132"/>
            <a:ext cx="3075432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4485132"/>
            <a:ext cx="3075432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ECF1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  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 shell history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86384" y="5127498"/>
            <a:ext cx="3075432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5127498"/>
            <a:ext cx="3075432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ECF1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升级安全  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flag 增减直接破坏 agent prompt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337304" y="2231136"/>
            <a:ext cx="3514344" cy="375818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8" name="Shape 16"/>
          <p:cNvSpPr/>
          <p:nvPr/>
        </p:nvSpPr>
        <p:spPr>
          <a:xfrm>
            <a:off x="4337304" y="2231136"/>
            <a:ext cx="3514344" cy="548640"/>
          </a:xfrm>
          <a:prstGeom prst="rect">
            <a:avLst/>
          </a:prstGeom>
          <a:solidFill>
            <a:srgbClr val="5B9DF0"/>
          </a:solidFill>
          <a:ln/>
        </p:spPr>
      </p:sp>
      <p:sp>
        <p:nvSpPr>
          <p:cNvPr id="19" name="Text 17"/>
          <p:cNvSpPr/>
          <p:nvPr/>
        </p:nvSpPr>
        <p:spPr>
          <a:xfrm>
            <a:off x="4556760" y="2231136"/>
            <a:ext cx="3075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对比 raw MCP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56760" y="2852928"/>
            <a:ext cx="307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9DF0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Model Context Protocol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56760" y="3200400"/>
            <a:ext cx="3075432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ECF1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能力门禁  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无服务端 capability 概念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556760" y="3842766"/>
            <a:ext cx="3075432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6760" y="3842766"/>
            <a:ext cx="3075432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ECF1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限流 / 多租户  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无规范，假设单租户 stdio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556760" y="4485132"/>
            <a:ext cx="3075432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6760" y="4485132"/>
            <a:ext cx="3075432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ECF1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 / 可见性  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无标准审计；可见性仅二元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556760" y="5127498"/>
            <a:ext cx="3075432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6760" y="5127498"/>
            <a:ext cx="3075432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ECF1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 / 分级  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 safety level、无 tier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107680" y="2231136"/>
            <a:ext cx="3514344" cy="375818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29" name="Shape 27"/>
          <p:cNvSpPr/>
          <p:nvPr/>
        </p:nvSpPr>
        <p:spPr>
          <a:xfrm>
            <a:off x="8107680" y="2231136"/>
            <a:ext cx="3514344" cy="548640"/>
          </a:xfrm>
          <a:prstGeom prst="rect">
            <a:avLst/>
          </a:prstGeom>
          <a:solidFill>
            <a:srgbClr val="F47B72"/>
          </a:solidFill>
          <a:ln/>
        </p:spPr>
      </p:sp>
      <p:sp>
        <p:nvSpPr>
          <p:cNvPr id="30" name="Text 28"/>
          <p:cNvSpPr/>
          <p:nvPr/>
        </p:nvSpPr>
        <p:spPr>
          <a:xfrm>
            <a:off x="8327136" y="2231136"/>
            <a:ext cx="3075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32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对比 raw REST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27136" y="2852928"/>
            <a:ext cx="307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B7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HTTP API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27136" y="3200400"/>
            <a:ext cx="3075432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ECF1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  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面向程序员，不面向 LLM 发现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8327136" y="3842766"/>
            <a:ext cx="3075432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7136" y="3842766"/>
            <a:ext cx="3075432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ECF1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契约  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每家鉴权 / 分页 / 错误体各异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8327136" y="4485132"/>
            <a:ext cx="3075432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7136" y="4485132"/>
            <a:ext cx="3075432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ECF1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适配成本  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 API 都要手写一遍 agent 适配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327136" y="5127498"/>
            <a:ext cx="3075432" cy="0"/>
          </a:xfrm>
          <a:prstGeom prst="line">
            <a:avLst/>
          </a:prstGeom>
          <a:noFill/>
          <a:ln w="6350">
            <a:solidFill>
              <a:srgbClr val="2C3D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7136" y="5127498"/>
            <a:ext cx="3075432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ECF1F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可恢复性  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 码粗粒度，无类型化恢复信号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第一部分 · 背景与必要性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横向对比 · vs 自研 adapter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为什么必须在「协议层」解决，而不是每家自研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每个厂商自己写一套 server？写过的人都知道 —— 每写一次，都要把同样五件事重新设计一遍。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231136"/>
            <a:ext cx="64008" cy="634594"/>
          </a:xfrm>
          <a:prstGeom prst="rect">
            <a:avLst/>
          </a:prstGeom>
          <a:solidFill>
            <a:srgbClr val="F47B72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31136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能力门禁会各写各的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956048" y="2231136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有的查环境变量、有的查 header、有的查 client_id —— 没有统一语义，agent 无法预期。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3012034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3012034"/>
            <a:ext cx="64008" cy="634594"/>
          </a:xfrm>
          <a:prstGeom prst="rect">
            <a:avLst/>
          </a:prstGeom>
          <a:solidFill>
            <a:srgbClr val="F47B72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012034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审计格式无法跨厂商聚合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56048" y="3012034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每家一套日志 schema，运维拿不到「跨 caller、跨工具」的统一可观测性。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792931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3792931"/>
            <a:ext cx="64008" cy="634594"/>
          </a:xfrm>
          <a:prstGeom prst="rect">
            <a:avLst/>
          </a:prstGeom>
          <a:solidFill>
            <a:srgbClr val="F2B44C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792931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多租户 token 路由反复重造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56048" y="3792931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 个用户要 N 个进程、N 份 token、N 套 OAuth 刷新逻辑 —— 每家都踩同一遍坑。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573829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4573829"/>
            <a:ext cx="64008" cy="634594"/>
          </a:xfrm>
          <a:prstGeom prst="rect">
            <a:avLst/>
          </a:prstGeom>
          <a:solidFill>
            <a:srgbClr val="F2B44C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" y="4573829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限流、可见性、dry-run 全要重写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956048" y="4573829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并发上限、隐藏工具、副作用预演 —— 协议不提供，就成了每家的可选项与不一致项。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354726"/>
            <a:ext cx="11055096" cy="634594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5354726"/>
            <a:ext cx="64008" cy="63459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" y="5354726"/>
            <a:ext cx="39319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协议层做一次，所有 adopter 复用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956048" y="5354726"/>
            <a:ext cx="6437376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atd-runtime + atd-server 约 2000 行 Rust；厂商写 server 只需实现 Tool trait、注册、跑起来。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第一部分 · 背景与必要性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12064"/>
            <a:ext cx="155448" cy="1554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780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独有解决的问题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ATD 在协议层一次性闭环的痛点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下面六项，raw CLI 拉不出、raw MCP 没规范、自研 adapter 每次重写 —— ATD 全部 ship 在协议与 runtime 里。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352653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231136"/>
            <a:ext cx="3526536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432304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2852928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能力门禁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3291840"/>
            <a:ext cx="30693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Hello 协商 + 工具声明 required_capabilities，dispatch 前置 subset 检查；不满足直接拒，工具根本不执行。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31208" y="2231136"/>
            <a:ext cx="352653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1208" y="2231136"/>
            <a:ext cx="3526536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4568952" y="2432304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68952" y="2852928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结构化审计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68952" y="3291840"/>
            <a:ext cx="30693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每次调用落一条 JSON Lines：caller、工具、耗时、结果、是否取密 —— 可 jq、可跨 caller 聚合。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095488" y="2231136"/>
            <a:ext cx="352653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5488" y="2231136"/>
            <a:ext cx="3526536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8333232" y="2432304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33232" y="2852928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多租户 token 路由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33232" y="3291840"/>
            <a:ext cx="30693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TokenBroker 按 caller_id 注入密钥；一个 server 服务 N 个用户，工具自己无需感知多租户。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66928" y="4229100"/>
            <a:ext cx="352653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4229100"/>
            <a:ext cx="3526536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430268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04672" y="4850892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工具可见性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5289804"/>
            <a:ext cx="30693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Hidden 可见性：原始端点 / 调试工具不进 discover 列表，但仍可按 id 调用 —— 协议级，非 per-binary 开关。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331208" y="4229100"/>
            <a:ext cx="352653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31208" y="4229100"/>
            <a:ext cx="3526536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8" name="Text 26"/>
          <p:cNvSpPr/>
          <p:nvPr/>
        </p:nvSpPr>
        <p:spPr>
          <a:xfrm>
            <a:off x="4568952" y="4430268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05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568952" y="4850892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跨厂商组合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68952" y="5289804"/>
            <a:ext cx="30693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 agent 连 N 个 ATD server，各自一个 socket / 审计 / token store，agent 看到的是合并 catalog。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095488" y="4229100"/>
            <a:ext cx="3526536" cy="1760220"/>
          </a:xfrm>
          <a:prstGeom prst="rect">
            <a:avLst/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95488" y="4229100"/>
            <a:ext cx="3526536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3" name="Text 31"/>
          <p:cNvSpPr/>
          <p:nvPr/>
        </p:nvSpPr>
        <p:spPr>
          <a:xfrm>
            <a:off x="8333232" y="4430268"/>
            <a:ext cx="306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06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333232" y="4850892"/>
            <a:ext cx="3069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类型化错误 + dry-run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33232" y="5289804"/>
            <a:ext cx="3069336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8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数字错误码（1000-1099）让 agent 可判定恢复；dry-run 在 dispatch 层短路，副作用工具不执行。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9525">
            <a:solidFill>
              <a:srgbClr val="2C3D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C9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ATD 技术预览   ·   第一部分 · 背景与必要性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188720"/>
            <a:ext cx="182880" cy="10515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115214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50976" y="1463040"/>
            <a:ext cx="10597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ECF1F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第一部分小结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50976" y="261518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2542032"/>
            <a:ext cx="101406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的可靠性瓶颈，常常不在模型，而在工具调度这一层缺契约。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50976" y="323240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3159252"/>
            <a:ext cx="101406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 / MCP / REST 都能「调到工具」，但都不是为 LLM agent 的发现、门禁、审计、可恢复而设计。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0976" y="384962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1261872" y="3776472"/>
            <a:ext cx="101406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实证：同模型同 prompt 下，工具 surface 从 raw endpoint 换成 ATD，成功率 24% → 95%。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50976" y="4466844"/>
            <a:ext cx="13716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261872" y="4393692"/>
            <a:ext cx="1014069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8A8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能力门禁、审计、多租户、可见性、跨厂商组合 —— 必须在协议层做一次，而非每家重写。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50976" y="5212080"/>
            <a:ext cx="10287000" cy="841248"/>
          </a:xfrm>
          <a:prstGeom prst="rect">
            <a:avLst/>
          </a:prstGeom>
          <a:solidFill>
            <a:srgbClr val="17233D"/>
          </a:solidFill>
          <a:ln/>
        </p:spPr>
      </p:sp>
      <p:sp>
        <p:nvSpPr>
          <p:cNvPr id="14" name="Shape 12"/>
          <p:cNvSpPr/>
          <p:nvPr/>
        </p:nvSpPr>
        <p:spPr>
          <a:xfrm>
            <a:off x="950976" y="5212080"/>
            <a:ext cx="64008" cy="84124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1225296" y="5212080"/>
            <a:ext cx="9683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DD4B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ATD 把「每家都要重写一遍」的中间层，折叠成一份协议加一套 runtime。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0976" y="645566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C9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下一部分 · 第二部分：ATD 的设计原则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707624" y="645566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ATD 技术预览 · 第一部分 · 背景与必要性</dc:title>
  <dc:subject>PptxGenJS Presentation</dc:subject>
  <dc:creator>ATD Protocol Contributors</dc:creator>
  <cp:lastModifiedBy>ATD Protocol Contributors</cp:lastModifiedBy>
  <cp:revision>1</cp:revision>
  <dcterms:created xsi:type="dcterms:W3CDTF">2026-05-21T03:27:23Z</dcterms:created>
  <dcterms:modified xsi:type="dcterms:W3CDTF">2026-05-21T03:27:23Z</dcterms:modified>
</cp:coreProperties>
</file>